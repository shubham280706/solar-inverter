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122848"/>
          </a:solidFill>
          <a:ln w="12700">
            <a:solidFill>
              <a:srgbClr val="1228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Approach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06640" y="146304"/>
            <a:ext cx="1600200" cy="384048"/>
          </a:xfrm>
          <a:prstGeom prst="roundRect">
            <a:avLst>
              <a:gd name="adj" fmla="val 21429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4630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4592" y="804672"/>
            <a:ext cx="1261872" cy="621792"/>
          </a:xfrm>
          <a:prstGeom prst="rect">
            <a:avLst/>
          </a:prstGeom>
          <a:solidFill>
            <a:srgbClr val="0E2040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804672"/>
            <a:ext cx="1261872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896112"/>
            <a:ext cx="1152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53896" y="1115568"/>
            <a:ext cx="182880" cy="0"/>
          </a:xfrm>
          <a:prstGeom prst="line">
            <a:avLst/>
          </a:prstGeom>
          <a:noFill/>
          <a:ln w="19050">
            <a:solidFill>
              <a:srgbClr val="8EB4D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490472" y="1024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45920" y="804672"/>
            <a:ext cx="1261872" cy="621792"/>
          </a:xfrm>
          <a:prstGeom prst="rect">
            <a:avLst/>
          </a:prstGeom>
          <a:solidFill>
            <a:srgbClr val="0E2040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45920" y="804672"/>
            <a:ext cx="1261872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0784" y="896112"/>
            <a:ext cx="1152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35224" y="1115568"/>
            <a:ext cx="182880" cy="0"/>
          </a:xfrm>
          <a:prstGeom prst="line">
            <a:avLst/>
          </a:prstGeom>
          <a:noFill/>
          <a:ln w="19050">
            <a:solidFill>
              <a:srgbClr val="8EB4D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971800" y="1024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27248" y="804672"/>
            <a:ext cx="1261872" cy="621792"/>
          </a:xfrm>
          <a:prstGeom prst="rect">
            <a:avLst/>
          </a:prstGeom>
          <a:solidFill>
            <a:srgbClr val="0E2040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27248" y="804672"/>
            <a:ext cx="1261872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896112"/>
            <a:ext cx="1152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16552" y="1115568"/>
            <a:ext cx="182880" cy="0"/>
          </a:xfrm>
          <a:prstGeom prst="line">
            <a:avLst/>
          </a:prstGeom>
          <a:noFill/>
          <a:ln w="19050">
            <a:solidFill>
              <a:srgbClr val="8EB4D4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453128" y="1024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08576" y="804672"/>
            <a:ext cx="1261872" cy="621792"/>
          </a:xfrm>
          <a:prstGeom prst="rect">
            <a:avLst/>
          </a:prstGeom>
          <a:solidFill>
            <a:srgbClr val="0E2040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08576" y="804672"/>
            <a:ext cx="1261872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896112"/>
            <a:ext cx="1152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97880" y="1115568"/>
            <a:ext cx="182880" cy="0"/>
          </a:xfrm>
          <a:prstGeom prst="line">
            <a:avLst/>
          </a:prstGeom>
          <a:noFill/>
          <a:ln w="19050">
            <a:solidFill>
              <a:srgbClr val="8EB4D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934456" y="1024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89904" y="804672"/>
            <a:ext cx="1261872" cy="621792"/>
          </a:xfrm>
          <a:prstGeom prst="rect">
            <a:avLst/>
          </a:prstGeom>
          <a:solidFill>
            <a:srgbClr val="0E2040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9904" y="804672"/>
            <a:ext cx="1261872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896112"/>
            <a:ext cx="1152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79208" y="1115568"/>
            <a:ext cx="182880" cy="0"/>
          </a:xfrm>
          <a:prstGeom prst="line">
            <a:avLst/>
          </a:prstGeom>
          <a:noFill/>
          <a:ln w="19050">
            <a:solidFill>
              <a:srgbClr val="8EB4D4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7415784" y="1024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571232" y="804672"/>
            <a:ext cx="1261872" cy="621792"/>
          </a:xfrm>
          <a:prstGeom prst="rect">
            <a:avLst/>
          </a:prstGeom>
          <a:solidFill>
            <a:srgbClr val="0E2040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71232" y="804672"/>
            <a:ext cx="1261872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6096" y="896112"/>
            <a:ext cx="1152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4592" y="1581912"/>
            <a:ext cx="2103120" cy="1115568"/>
          </a:xfrm>
          <a:prstGeom prst="rect">
            <a:avLst/>
          </a:prstGeom>
          <a:solidFill>
            <a:srgbClr val="0E2040"/>
          </a:solidFill>
          <a:ln w="12700">
            <a:solidFill>
              <a:srgbClr val="1C3F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64592" y="1581912"/>
            <a:ext cx="50292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700784"/>
            <a:ext cx="329184" cy="32918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67512" y="16459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Processing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67512" y="192024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power, temp, voltage &amp; behavioral data preprocessed into structured inverter-level inputs.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214884" y="2423160"/>
            <a:ext cx="2052828" cy="274320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56032" y="2432304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Focuses model on meaningful signals, not noise.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2395728" y="1581912"/>
            <a:ext cx="2103120" cy="1115568"/>
          </a:xfrm>
          <a:prstGeom prst="rect">
            <a:avLst/>
          </a:prstGeom>
          <a:solidFill>
            <a:srgbClr val="0E2040"/>
          </a:solidFill>
          <a:ln w="12700">
            <a:solidFill>
              <a:srgbClr val="0E3B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2395728" y="1581912"/>
            <a:ext cx="50292" cy="11155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1700784"/>
            <a:ext cx="329184" cy="329184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2898648" y="16459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2898648" y="192024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stats, temperature trends, daily variation patterns, and performance deviation indicators.</a:t>
            </a:r>
            <a:endParaRPr lang="en-US" sz="820" dirty="0"/>
          </a:p>
        </p:txBody>
      </p:sp>
      <p:sp>
        <p:nvSpPr>
          <p:cNvPr id="47" name="Shape 43"/>
          <p:cNvSpPr/>
          <p:nvPr/>
        </p:nvSpPr>
        <p:spPr>
          <a:xfrm>
            <a:off x="2446020" y="2423160"/>
            <a:ext cx="2052828" cy="274320"/>
          </a:xfrm>
          <a:prstGeom prst="rect">
            <a:avLst/>
          </a:prstGeom>
          <a:solidFill>
            <a:srgbClr val="082030"/>
          </a:solidFill>
          <a:ln w="12700">
            <a:solidFill>
              <a:srgbClr val="08203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2487168" y="2432304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Exposes hidden pre-failure behavioral changes.</a:t>
            </a:r>
            <a:endParaRPr lang="en-US" sz="780" dirty="0"/>
          </a:p>
        </p:txBody>
      </p:sp>
      <p:sp>
        <p:nvSpPr>
          <p:cNvPr id="49" name="Shape 45"/>
          <p:cNvSpPr/>
          <p:nvPr/>
        </p:nvSpPr>
        <p:spPr>
          <a:xfrm>
            <a:off x="4626864" y="1581912"/>
            <a:ext cx="2103120" cy="1115568"/>
          </a:xfrm>
          <a:prstGeom prst="rect">
            <a:avLst/>
          </a:prstGeom>
          <a:solidFill>
            <a:srgbClr val="0E2040"/>
          </a:solidFill>
          <a:ln w="12700">
            <a:solidFill>
              <a:srgbClr val="1C3F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4626864" y="1581912"/>
            <a:ext cx="50292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1700784"/>
            <a:ext cx="329184" cy="329184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5129784" y="16459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Risk Prediction</a:t>
            </a: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5129784" y="192024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each inverter as high-risk or low-risk. Fast, accurate, tabular-data-optimized.</a:t>
            </a:r>
            <a:endParaRPr lang="en-US" sz="820" dirty="0"/>
          </a:p>
        </p:txBody>
      </p:sp>
      <p:sp>
        <p:nvSpPr>
          <p:cNvPr id="54" name="Shape 49"/>
          <p:cNvSpPr/>
          <p:nvPr/>
        </p:nvSpPr>
        <p:spPr>
          <a:xfrm>
            <a:off x="4677156" y="2423160"/>
            <a:ext cx="2052828" cy="274320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4718304" y="2432304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Practical engine — accurate &amp; lightweight for deployment.</a:t>
            </a:r>
            <a:endParaRPr lang="en-US" sz="780" dirty="0"/>
          </a:p>
        </p:txBody>
      </p:sp>
      <p:sp>
        <p:nvSpPr>
          <p:cNvPr id="56" name="Shape 51"/>
          <p:cNvSpPr/>
          <p:nvPr/>
        </p:nvSpPr>
        <p:spPr>
          <a:xfrm>
            <a:off x="6858000" y="1581912"/>
            <a:ext cx="2103120" cy="1115568"/>
          </a:xfrm>
          <a:prstGeom prst="rect">
            <a:avLst/>
          </a:prstGeom>
          <a:solidFill>
            <a:srgbClr val="0E2040"/>
          </a:solidFill>
          <a:ln w="12700">
            <a:solidFill>
              <a:srgbClr val="0E3B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57" name="Shape 52"/>
          <p:cNvSpPr/>
          <p:nvPr/>
        </p:nvSpPr>
        <p:spPr>
          <a:xfrm>
            <a:off x="6858000" y="1581912"/>
            <a:ext cx="50292" cy="11155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700784"/>
            <a:ext cx="329184" cy="329184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7360920" y="16459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Factor Explanation</a:t>
            </a:r>
            <a:endParaRPr lang="en-US" sz="950" dirty="0"/>
          </a:p>
        </p:txBody>
      </p:sp>
      <p:sp>
        <p:nvSpPr>
          <p:cNvPr id="60" name="Text 54"/>
          <p:cNvSpPr/>
          <p:nvPr/>
        </p:nvSpPr>
        <p:spPr>
          <a:xfrm>
            <a:off x="7360920" y="192024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top contributing factors: power variation, temperature signals, operating trends.</a:t>
            </a:r>
            <a:endParaRPr lang="en-US" sz="820" dirty="0"/>
          </a:p>
        </p:txBody>
      </p:sp>
      <p:sp>
        <p:nvSpPr>
          <p:cNvPr id="61" name="Shape 55"/>
          <p:cNvSpPr/>
          <p:nvPr/>
        </p:nvSpPr>
        <p:spPr>
          <a:xfrm>
            <a:off x="6908292" y="2423160"/>
            <a:ext cx="2052828" cy="274320"/>
          </a:xfrm>
          <a:prstGeom prst="rect">
            <a:avLst/>
          </a:prstGeom>
          <a:solidFill>
            <a:srgbClr val="082030"/>
          </a:solidFill>
          <a:ln w="12700">
            <a:solidFill>
              <a:srgbClr val="082030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6949440" y="2432304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Trustworthy, interpretable, and actionable — not a black box.</a:t>
            </a:r>
            <a:endParaRPr lang="en-US" sz="780" dirty="0"/>
          </a:p>
        </p:txBody>
      </p:sp>
      <p:sp>
        <p:nvSpPr>
          <p:cNvPr id="63" name="Shape 57"/>
          <p:cNvSpPr/>
          <p:nvPr/>
        </p:nvSpPr>
        <p:spPr>
          <a:xfrm>
            <a:off x="1463040" y="2834640"/>
            <a:ext cx="2103120" cy="1115568"/>
          </a:xfrm>
          <a:prstGeom prst="rect">
            <a:avLst/>
          </a:prstGeom>
          <a:solidFill>
            <a:srgbClr val="0E2040"/>
          </a:solidFill>
          <a:ln w="12700">
            <a:solidFill>
              <a:srgbClr val="1C3F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64" name="Shape 58"/>
          <p:cNvSpPr/>
          <p:nvPr/>
        </p:nvSpPr>
        <p:spPr>
          <a:xfrm>
            <a:off x="1463040" y="2834640"/>
            <a:ext cx="50292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2953512"/>
            <a:ext cx="329184" cy="329184"/>
          </a:xfrm>
          <a:prstGeom prst="rect">
            <a:avLst/>
          </a:prstGeom>
        </p:spPr>
      </p:pic>
      <p:sp>
        <p:nvSpPr>
          <p:cNvPr id="66" name="Text 59"/>
          <p:cNvSpPr/>
          <p:nvPr/>
        </p:nvSpPr>
        <p:spPr>
          <a:xfrm>
            <a:off x="1965960" y="28986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950" dirty="0"/>
          </a:p>
        </p:txBody>
      </p:sp>
      <p:sp>
        <p:nvSpPr>
          <p:cNvPr id="67" name="Text 60"/>
          <p:cNvSpPr/>
          <p:nvPr/>
        </p:nvSpPr>
        <p:spPr>
          <a:xfrm>
            <a:off x="1965960" y="317296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/health · /predict · /qa — with Pydantic validation and clean error handling.</a:t>
            </a:r>
            <a:endParaRPr lang="en-US" sz="820" dirty="0"/>
          </a:p>
        </p:txBody>
      </p:sp>
      <p:sp>
        <p:nvSpPr>
          <p:cNvPr id="68" name="Shape 61"/>
          <p:cNvSpPr/>
          <p:nvPr/>
        </p:nvSpPr>
        <p:spPr>
          <a:xfrm>
            <a:off x="1513332" y="3675888"/>
            <a:ext cx="2052828" cy="274320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1554480" y="368503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Modular, scalable, easy frontend-backend integration.</a:t>
            </a:r>
            <a:endParaRPr lang="en-US" sz="780" dirty="0"/>
          </a:p>
        </p:txBody>
      </p:sp>
      <p:sp>
        <p:nvSpPr>
          <p:cNvPr id="70" name="Shape 63"/>
          <p:cNvSpPr/>
          <p:nvPr/>
        </p:nvSpPr>
        <p:spPr>
          <a:xfrm>
            <a:off x="3685032" y="2834640"/>
            <a:ext cx="2103120" cy="1115568"/>
          </a:xfrm>
          <a:prstGeom prst="rect">
            <a:avLst/>
          </a:prstGeom>
          <a:solidFill>
            <a:srgbClr val="0E2040"/>
          </a:solidFill>
          <a:ln w="12700">
            <a:solidFill>
              <a:srgbClr val="0E3B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71" name="Shape 64"/>
          <p:cNvSpPr/>
          <p:nvPr/>
        </p:nvSpPr>
        <p:spPr>
          <a:xfrm>
            <a:off x="3685032" y="2834640"/>
            <a:ext cx="50292" cy="11155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472" y="2953512"/>
            <a:ext cx="329184" cy="329184"/>
          </a:xfrm>
          <a:prstGeom prst="rect">
            <a:avLst/>
          </a:prstGeom>
        </p:spPr>
      </p:pic>
      <p:sp>
        <p:nvSpPr>
          <p:cNvPr id="73" name="Text 65"/>
          <p:cNvSpPr/>
          <p:nvPr/>
        </p:nvSpPr>
        <p:spPr>
          <a:xfrm>
            <a:off x="4187952" y="28986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950" dirty="0"/>
          </a:p>
        </p:txBody>
      </p:sp>
      <p:sp>
        <p:nvSpPr>
          <p:cNvPr id="74" name="Text 66"/>
          <p:cNvSpPr/>
          <p:nvPr/>
        </p:nvSpPr>
        <p:spPr>
          <a:xfrm>
            <a:off x="4187952" y="317296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inverter cards with green/red risk status, detailed drill-down view, and chatbot panel.</a:t>
            </a:r>
            <a:endParaRPr lang="en-US" sz="820" dirty="0"/>
          </a:p>
        </p:txBody>
      </p:sp>
      <p:sp>
        <p:nvSpPr>
          <p:cNvPr id="75" name="Shape 67"/>
          <p:cNvSpPr/>
          <p:nvPr/>
        </p:nvSpPr>
        <p:spPr>
          <a:xfrm>
            <a:off x="3735324" y="3675888"/>
            <a:ext cx="2052828" cy="274320"/>
          </a:xfrm>
          <a:prstGeom prst="rect">
            <a:avLst/>
          </a:prstGeom>
          <a:solidFill>
            <a:srgbClr val="082030"/>
          </a:solidFill>
          <a:ln w="12700">
            <a:solidFill>
              <a:srgbClr val="082030"/>
            </a:solidFill>
            <a:prstDash val="solid"/>
          </a:ln>
        </p:spPr>
      </p:sp>
      <p:sp>
        <p:nvSpPr>
          <p:cNvPr id="76" name="Text 68"/>
          <p:cNvSpPr/>
          <p:nvPr/>
        </p:nvSpPr>
        <p:spPr>
          <a:xfrm>
            <a:off x="3776472" y="368503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Converts model output into a usable operator interface.</a:t>
            </a:r>
            <a:endParaRPr lang="en-US" sz="780" dirty="0"/>
          </a:p>
        </p:txBody>
      </p:sp>
      <p:sp>
        <p:nvSpPr>
          <p:cNvPr id="77" name="Shape 69"/>
          <p:cNvSpPr/>
          <p:nvPr/>
        </p:nvSpPr>
        <p:spPr>
          <a:xfrm>
            <a:off x="5907024" y="2834640"/>
            <a:ext cx="2103120" cy="1115568"/>
          </a:xfrm>
          <a:prstGeom prst="rect">
            <a:avLst/>
          </a:prstGeom>
          <a:solidFill>
            <a:srgbClr val="0E2040"/>
          </a:solidFill>
          <a:ln w="12700">
            <a:solidFill>
              <a:srgbClr val="1C3F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78" name="Shape 70"/>
          <p:cNvSpPr/>
          <p:nvPr/>
        </p:nvSpPr>
        <p:spPr>
          <a:xfrm>
            <a:off x="5907024" y="2834640"/>
            <a:ext cx="50292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8464" y="2953512"/>
            <a:ext cx="329184" cy="329184"/>
          </a:xfrm>
          <a:prstGeom prst="rect">
            <a:avLst/>
          </a:prstGeom>
        </p:spPr>
      </p:pic>
      <p:sp>
        <p:nvSpPr>
          <p:cNvPr id="80" name="Text 71"/>
          <p:cNvSpPr/>
          <p:nvPr/>
        </p:nvSpPr>
        <p:spPr>
          <a:xfrm>
            <a:off x="6409944" y="28986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Assistance Layer</a:t>
            </a:r>
            <a:endParaRPr lang="en-US" sz="950" dirty="0"/>
          </a:p>
        </p:txBody>
      </p:sp>
      <p:sp>
        <p:nvSpPr>
          <p:cNvPr id="81" name="Text 72"/>
          <p:cNvSpPr/>
          <p:nvPr/>
        </p:nvSpPr>
        <p:spPr>
          <a:xfrm>
            <a:off x="6409944" y="317296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Retrieval-based QA/chat for operators to query inverter condition and system outputs.</a:t>
            </a:r>
            <a:endParaRPr lang="en-US" sz="820" dirty="0"/>
          </a:p>
        </p:txBody>
      </p:sp>
      <p:sp>
        <p:nvSpPr>
          <p:cNvPr id="82" name="Shape 73"/>
          <p:cNvSpPr/>
          <p:nvPr/>
        </p:nvSpPr>
        <p:spPr>
          <a:xfrm>
            <a:off x="5957316" y="3675888"/>
            <a:ext cx="2052828" cy="274320"/>
          </a:xfrm>
          <a:prstGeom prst="rect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83" name="Text 74"/>
          <p:cNvSpPr/>
          <p:nvPr/>
        </p:nvSpPr>
        <p:spPr>
          <a:xfrm>
            <a:off x="5998464" y="368503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Makes outputs accessible for non-technical users.</a:t>
            </a:r>
            <a:endParaRPr lang="en-US" sz="780" dirty="0"/>
          </a:p>
        </p:txBody>
      </p:sp>
      <p:sp>
        <p:nvSpPr>
          <p:cNvPr id="84" name="Shape 75"/>
          <p:cNvSpPr/>
          <p:nvPr/>
        </p:nvSpPr>
        <p:spPr>
          <a:xfrm>
            <a:off x="64008" y="4754880"/>
            <a:ext cx="9079992" cy="347472"/>
          </a:xfrm>
          <a:prstGeom prst="rect">
            <a:avLst/>
          </a:prstGeom>
          <a:solidFill>
            <a:srgbClr val="071629"/>
          </a:solidFill>
          <a:ln w="12700">
            <a:solidFill>
              <a:srgbClr val="071629"/>
            </a:solidFill>
            <a:prstDash val="solid"/>
          </a:ln>
        </p:spPr>
      </p:sp>
      <p:sp>
        <p:nvSpPr>
          <p:cNvPr id="85" name="Shape 76"/>
          <p:cNvSpPr/>
          <p:nvPr/>
        </p:nvSpPr>
        <p:spPr>
          <a:xfrm>
            <a:off x="164592" y="4809744"/>
            <a:ext cx="274320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6" name="Text 77"/>
          <p:cNvSpPr/>
          <p:nvPr/>
        </p:nvSpPr>
        <p:spPr>
          <a:xfrm>
            <a:off x="530352" y="4764024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does not stop at prediction — it delivers prediction, explanation, deployment, and usability in one complete system.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85800"/>
          </a:xfrm>
          <a:prstGeom prst="rect">
            <a:avLst/>
          </a:prstGeom>
          <a:solidFill>
            <a:srgbClr val="122848"/>
          </a:solidFill>
          <a:ln w="12700">
            <a:solidFill>
              <a:srgbClr val="1228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Our Solution?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06640" y="146304"/>
            <a:ext cx="1600200" cy="384048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4630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804672"/>
            <a:ext cx="2743200" cy="1508760"/>
          </a:xfrm>
          <a:prstGeom prst="rect">
            <a:avLst/>
          </a:prstGeom>
          <a:solidFill>
            <a:srgbClr val="0E2040"/>
          </a:solidFill>
          <a:ln w="12700">
            <a:solidFill>
              <a:srgbClr val="1C3F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804672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932688"/>
            <a:ext cx="512064" cy="512064"/>
          </a:xfrm>
          <a:prstGeom prst="ellipse">
            <a:avLst/>
          </a:prstGeom>
          <a:solidFill>
            <a:srgbClr val="0F2A4A"/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" y="996696"/>
            <a:ext cx="365760" cy="365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865376" y="932688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1A3A1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65376" y="93268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 day window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74320" y="149961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vs Reactive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74320" y="179222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shutdown or degradation 7–10 days in advance — not after failure occurs.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145536" y="804672"/>
            <a:ext cx="2743200" cy="15087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3B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45536" y="804672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73552" y="932688"/>
            <a:ext cx="512064" cy="512064"/>
          </a:xfrm>
          <a:prstGeom prst="ellipse">
            <a:avLst/>
          </a:prstGeom>
          <a:solidFill>
            <a:srgbClr val="0F2A4A"/>
          </a:solidFill>
          <a:ln w="19050">
            <a:solidFill>
              <a:srgbClr val="00C9A7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996696"/>
            <a:ext cx="365760" cy="3657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846320" y="932688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0A303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46320" y="93268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black box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3255264" y="149961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Explainable Insights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3255264" y="179222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risk scores + SHAP factor analysis so operators understand every decision.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126480" y="804672"/>
            <a:ext cx="2743200" cy="1508760"/>
          </a:xfrm>
          <a:prstGeom prst="rect">
            <a:avLst/>
          </a:prstGeom>
          <a:solidFill>
            <a:srgbClr val="0E2040"/>
          </a:solidFill>
          <a:ln w="12700">
            <a:solidFill>
              <a:srgbClr val="1C3F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26480" y="804672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54496" y="932688"/>
            <a:ext cx="512064" cy="512064"/>
          </a:xfrm>
          <a:prstGeom prst="ellipse">
            <a:avLst/>
          </a:prstGeom>
          <a:solidFill>
            <a:srgbClr val="0F2A4A"/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996696"/>
            <a:ext cx="365760" cy="3657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7827264" y="932688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1A3A1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827264" y="93268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6236208" y="149961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Operations Assistant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236208" y="179222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complex telemetry into plain-language root causes and maintenance actions.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164592" y="2450592"/>
            <a:ext cx="2743200" cy="15087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3B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164592" y="2450592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292608" y="2578608"/>
            <a:ext cx="512064" cy="512064"/>
          </a:xfrm>
          <a:prstGeom prst="ellipse">
            <a:avLst/>
          </a:prstGeom>
          <a:solidFill>
            <a:srgbClr val="0F2A4A"/>
          </a:solidFill>
          <a:ln w="19050">
            <a:solidFill>
              <a:srgbClr val="00C9A7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2642616"/>
            <a:ext cx="365760" cy="36576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1865376" y="2578608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0A303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1865376" y="257860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REST-ready</a:t>
            </a:r>
            <a:endParaRPr lang="en-US" sz="750" dirty="0"/>
          </a:p>
        </p:txBody>
      </p:sp>
      <p:sp>
        <p:nvSpPr>
          <p:cNvPr id="37" name="Text 31"/>
          <p:cNvSpPr/>
          <p:nvPr/>
        </p:nvSpPr>
        <p:spPr>
          <a:xfrm>
            <a:off x="274320" y="314553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274320" y="343814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backend, Pydantic validation, containerized ML services — production-ready.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3145536" y="2450592"/>
            <a:ext cx="2743200" cy="1508760"/>
          </a:xfrm>
          <a:prstGeom prst="rect">
            <a:avLst/>
          </a:prstGeom>
          <a:solidFill>
            <a:srgbClr val="0E2040"/>
          </a:solidFill>
          <a:ln w="12700">
            <a:solidFill>
              <a:srgbClr val="1C3F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3145536" y="2450592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3273552" y="2578608"/>
            <a:ext cx="512064" cy="512064"/>
          </a:xfrm>
          <a:prstGeom prst="ellipse">
            <a:avLst/>
          </a:prstGeom>
          <a:solidFill>
            <a:srgbClr val="0F2A4A"/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642616"/>
            <a:ext cx="365760" cy="365760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4846320" y="2578608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1A3A1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4846320" y="257860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inverter cards</a:t>
            </a:r>
            <a:endParaRPr lang="en-US" sz="750" dirty="0"/>
          </a:p>
        </p:txBody>
      </p:sp>
      <p:sp>
        <p:nvSpPr>
          <p:cNvPr id="45" name="Text 38"/>
          <p:cNvSpPr/>
          <p:nvPr/>
        </p:nvSpPr>
        <p:spPr>
          <a:xfrm>
            <a:off x="3255264" y="314553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Intelligence</a:t>
            </a:r>
            <a:endParaRPr lang="en-US" sz="1150" dirty="0"/>
          </a:p>
        </p:txBody>
      </p:sp>
      <p:sp>
        <p:nvSpPr>
          <p:cNvPr id="46" name="Text 39"/>
          <p:cNvSpPr/>
          <p:nvPr/>
        </p:nvSpPr>
        <p:spPr>
          <a:xfrm>
            <a:off x="3255264" y="343814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telemetry signals, engineered KPIs, and anomaly patterns for deep insight.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6126480" y="2450592"/>
            <a:ext cx="2743200" cy="15087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3B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6126480" y="2450592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6254496" y="2578608"/>
            <a:ext cx="512064" cy="512064"/>
          </a:xfrm>
          <a:prstGeom prst="ellipse">
            <a:avLst/>
          </a:prstGeom>
          <a:solidFill>
            <a:srgbClr val="0F2A4A"/>
          </a:solidFill>
          <a:ln w="19050">
            <a:solidFill>
              <a:srgbClr val="00C9A7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2642616"/>
            <a:ext cx="365760" cy="365760"/>
          </a:xfrm>
          <a:prstGeom prst="rect">
            <a:avLst/>
          </a:prstGeom>
        </p:spPr>
      </p:pic>
      <p:sp>
        <p:nvSpPr>
          <p:cNvPr id="51" name="Shape 43"/>
          <p:cNvSpPr/>
          <p:nvPr/>
        </p:nvSpPr>
        <p:spPr>
          <a:xfrm>
            <a:off x="7827264" y="2578608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0A303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7827264" y="257860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Energy yield</a:t>
            </a:r>
            <a:endParaRPr lang="en-US" sz="750" dirty="0"/>
          </a:p>
        </p:txBody>
      </p:sp>
      <p:sp>
        <p:nvSpPr>
          <p:cNvPr id="53" name="Text 45"/>
          <p:cNvSpPr/>
          <p:nvPr/>
        </p:nvSpPr>
        <p:spPr>
          <a:xfrm>
            <a:off x="6236208" y="314553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Downtime &amp; Higher Yield</a:t>
            </a:r>
            <a:endParaRPr lang="en-US" sz="1150" dirty="0"/>
          </a:p>
        </p:txBody>
      </p:sp>
      <p:sp>
        <p:nvSpPr>
          <p:cNvPr id="54" name="Text 46"/>
          <p:cNvSpPr/>
          <p:nvPr/>
        </p:nvSpPr>
        <p:spPr>
          <a:xfrm>
            <a:off x="6236208" y="343814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failure detection improves plant uptime, performance ratio, and revenue.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64008" y="4754880"/>
            <a:ext cx="9079992" cy="347472"/>
          </a:xfrm>
          <a:prstGeom prst="rect">
            <a:avLst/>
          </a:prstGeom>
          <a:solidFill>
            <a:srgbClr val="071629"/>
          </a:solidFill>
          <a:ln w="12700">
            <a:solidFill>
              <a:srgbClr val="071629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164592" y="4809744"/>
            <a:ext cx="274320" cy="2377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530352" y="4764024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transforms solar plant monitoring from reactive troubleshooting to proactive, AI-driven operational intelligence.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2026-03-07T04:03:26Z</dcterms:created>
  <dcterms:modified xsi:type="dcterms:W3CDTF">2026-03-07T04:03:26Z</dcterms:modified>
</cp:coreProperties>
</file>