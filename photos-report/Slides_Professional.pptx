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9" r:id="rId2"/>
    <p:sldId id="256" r:id="rId3"/>
    <p:sldId id="257" r:id="rId4"/>
    <p:sldId id="258" r:id="rId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63" d="100"/>
          <a:sy n="163" d="100"/>
        </p:scale>
        <p:origin x="35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518450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4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566160" cy="5143500"/>
          </a:xfrm>
          <a:prstGeom prst="rect">
            <a:avLst/>
          </a:prstGeom>
          <a:solidFill>
            <a:srgbClr val="0F1923"/>
          </a:solidFill>
          <a:ln w="12700">
            <a:solidFill>
              <a:srgbClr val="0F192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329184"/>
            <a:ext cx="1463040" cy="1463040"/>
          </a:xfrm>
          <a:prstGeom prst="ellipse">
            <a:avLst/>
          </a:prstGeom>
          <a:solidFill>
            <a:srgbClr val="0A2E1C"/>
          </a:solidFill>
          <a:ln w="19050">
            <a:solidFill>
              <a:srgbClr val="047857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704" y="566928"/>
            <a:ext cx="987552" cy="98755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017520" y="164592"/>
            <a:ext cx="384048" cy="38404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017520" y="1645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82880" y="1901952"/>
            <a:ext cx="32186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596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AI-Driven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182880" y="2304288"/>
            <a:ext cx="321868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Solar Inverter</a:t>
            </a:r>
            <a:endParaRPr lang="en-US" sz="1800" dirty="0"/>
          </a:p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Failure Prediction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82880" y="3127248"/>
            <a:ext cx="32186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&amp; Intelligence Platform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182880" y="3511296"/>
            <a:ext cx="3182112" cy="2743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82880" y="3602736"/>
            <a:ext cx="3182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D9770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Introduction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182880" y="3877056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inverter risk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7–10 days before impact.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3749040" y="109728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PROBLEM CONTEXT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3730752" y="384048"/>
            <a:ext cx="5248656" cy="1078992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blurRad="127000" dist="38100" dir="8100000" algn="bl" rotWithShape="0">
              <a:srgbClr val="94A3B8">
                <a:alpha val="1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3730752" y="384048"/>
            <a:ext cx="5248656" cy="5029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22192" y="512064"/>
            <a:ext cx="347472" cy="347472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4242816" y="45720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D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When an inverter fails or underperforms: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3803904" y="896112"/>
            <a:ext cx="1170432" cy="420624"/>
          </a:xfrm>
          <a:prstGeom prst="roundRect">
            <a:avLst>
              <a:gd name="adj" fmla="val 17391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3803904" y="896112"/>
            <a:ext cx="11704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Energy Loss</a:t>
            </a:r>
            <a:endParaRPr lang="en-US" sz="900" dirty="0"/>
          </a:p>
        </p:txBody>
      </p:sp>
      <p:sp>
        <p:nvSpPr>
          <p:cNvPr id="21" name="Shape 17"/>
          <p:cNvSpPr/>
          <p:nvPr/>
        </p:nvSpPr>
        <p:spPr>
          <a:xfrm>
            <a:off x="5065776" y="896112"/>
            <a:ext cx="1170432" cy="420624"/>
          </a:xfrm>
          <a:prstGeom prst="roundRect">
            <a:avLst>
              <a:gd name="adj" fmla="val 17391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5065776" y="896112"/>
            <a:ext cx="11704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9770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Reduced PR</a:t>
            </a:r>
            <a:endParaRPr lang="en-US" sz="900" dirty="0"/>
          </a:p>
        </p:txBody>
      </p:sp>
      <p:sp>
        <p:nvSpPr>
          <p:cNvPr id="23" name="Shape 19"/>
          <p:cNvSpPr/>
          <p:nvPr/>
        </p:nvSpPr>
        <p:spPr>
          <a:xfrm>
            <a:off x="6327648" y="896112"/>
            <a:ext cx="1170432" cy="420624"/>
          </a:xfrm>
          <a:prstGeom prst="roundRect">
            <a:avLst>
              <a:gd name="adj" fmla="val 17391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6327648" y="896112"/>
            <a:ext cx="11704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High Maint. Cost</a:t>
            </a:r>
            <a:endParaRPr lang="en-US" sz="900" dirty="0"/>
          </a:p>
        </p:txBody>
      </p:sp>
      <p:sp>
        <p:nvSpPr>
          <p:cNvPr id="25" name="Shape 21"/>
          <p:cNvSpPr/>
          <p:nvPr/>
        </p:nvSpPr>
        <p:spPr>
          <a:xfrm>
            <a:off x="7589520" y="896112"/>
            <a:ext cx="1170432" cy="420624"/>
          </a:xfrm>
          <a:prstGeom prst="roundRect">
            <a:avLst>
              <a:gd name="adj" fmla="val 17391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7589520" y="896112"/>
            <a:ext cx="11704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9770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Revenue Impact</a:t>
            </a:r>
            <a:endParaRPr lang="en-US" sz="900" dirty="0"/>
          </a:p>
        </p:txBody>
      </p:sp>
      <p:sp>
        <p:nvSpPr>
          <p:cNvPr id="27" name="Text 23"/>
          <p:cNvSpPr/>
          <p:nvPr/>
        </p:nvSpPr>
        <p:spPr>
          <a:xfrm>
            <a:off x="3749040" y="1572768"/>
            <a:ext cx="5212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OUR SOLUTION</a:t>
            </a:r>
            <a:endParaRPr lang="en-US" sz="850" dirty="0"/>
          </a:p>
        </p:txBody>
      </p:sp>
      <p:sp>
        <p:nvSpPr>
          <p:cNvPr id="28" name="Shape 24"/>
          <p:cNvSpPr/>
          <p:nvPr/>
        </p:nvSpPr>
        <p:spPr>
          <a:xfrm>
            <a:off x="3730752" y="1828800"/>
            <a:ext cx="5248656" cy="1316736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blurRad="127000" dist="38100" dir="8100000" algn="bl" rotWithShape="0">
              <a:srgbClr val="94A3B8">
                <a:alpha val="18000"/>
              </a:srgbClr>
            </a:outerShdw>
          </a:effectLst>
        </p:spPr>
      </p:sp>
      <p:sp>
        <p:nvSpPr>
          <p:cNvPr id="29" name="Shape 25"/>
          <p:cNvSpPr/>
          <p:nvPr/>
        </p:nvSpPr>
        <p:spPr>
          <a:xfrm>
            <a:off x="3730752" y="1828800"/>
            <a:ext cx="5248656" cy="5029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3840480" y="1993392"/>
            <a:ext cx="128016" cy="128016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4041648" y="1920240"/>
            <a:ext cx="4809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inverter failure or degradation risk  7–10 days in advance</a:t>
            </a:r>
            <a:endParaRPr lang="en-US" sz="950" dirty="0"/>
          </a:p>
        </p:txBody>
      </p:sp>
      <p:sp>
        <p:nvSpPr>
          <p:cNvPr id="32" name="Shape 28"/>
          <p:cNvSpPr/>
          <p:nvPr/>
        </p:nvSpPr>
        <p:spPr>
          <a:xfrm>
            <a:off x="3840480" y="2286000"/>
            <a:ext cx="128016" cy="128016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4041648" y="2212848"/>
            <a:ext cx="4809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models trained on inverter telemetry (power, temperature, voltage)</a:t>
            </a:r>
            <a:endParaRPr lang="en-US" sz="950" dirty="0"/>
          </a:p>
        </p:txBody>
      </p:sp>
      <p:sp>
        <p:nvSpPr>
          <p:cNvPr id="34" name="Shape 30"/>
          <p:cNvSpPr/>
          <p:nvPr/>
        </p:nvSpPr>
        <p:spPr>
          <a:xfrm>
            <a:off x="3840480" y="2578608"/>
            <a:ext cx="128016" cy="128016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4041648" y="2505456"/>
            <a:ext cx="4809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explanations via Generative AI (RAG-powered)</a:t>
            </a:r>
            <a:endParaRPr lang="en-US" sz="950" dirty="0"/>
          </a:p>
        </p:txBody>
      </p:sp>
      <p:sp>
        <p:nvSpPr>
          <p:cNvPr id="36" name="Shape 32"/>
          <p:cNvSpPr/>
          <p:nvPr/>
        </p:nvSpPr>
        <p:spPr>
          <a:xfrm>
            <a:off x="3840480" y="2871216"/>
            <a:ext cx="128016" cy="128016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4041648" y="2798064"/>
            <a:ext cx="4809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D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Empowers operators to act proactively — before energy loss occurs</a:t>
            </a:r>
            <a:endParaRPr lang="en-US" sz="950" dirty="0"/>
          </a:p>
        </p:txBody>
      </p:sp>
      <p:sp>
        <p:nvSpPr>
          <p:cNvPr id="38" name="Text 34"/>
          <p:cNvSpPr/>
          <p:nvPr/>
        </p:nvSpPr>
        <p:spPr>
          <a:xfrm>
            <a:off x="3749040" y="3255264"/>
            <a:ext cx="5212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IT WORKS</a:t>
            </a:r>
            <a:endParaRPr lang="en-US" sz="850" dirty="0"/>
          </a:p>
        </p:txBody>
      </p:sp>
      <p:sp>
        <p:nvSpPr>
          <p:cNvPr id="39" name="Shape 35"/>
          <p:cNvSpPr/>
          <p:nvPr/>
        </p:nvSpPr>
        <p:spPr>
          <a:xfrm>
            <a:off x="3730752" y="3511296"/>
            <a:ext cx="5248656" cy="1042416"/>
          </a:xfrm>
          <a:prstGeom prst="rect">
            <a:avLst/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  <a:effectLst>
            <a:outerShdw blurRad="127000" dist="38100" dir="8100000" algn="bl" rotWithShape="0">
              <a:srgbClr val="94A3B8">
                <a:alpha val="18000"/>
              </a:srgbClr>
            </a:outerShdw>
          </a:effectLst>
        </p:spPr>
      </p:sp>
      <p:sp>
        <p:nvSpPr>
          <p:cNvPr id="40" name="Shape 36"/>
          <p:cNvSpPr/>
          <p:nvPr/>
        </p:nvSpPr>
        <p:spPr>
          <a:xfrm>
            <a:off x="3913632" y="3621024"/>
            <a:ext cx="1042416" cy="713232"/>
          </a:xfrm>
          <a:prstGeom prst="roundRect">
            <a:avLst>
              <a:gd name="adj" fmla="val 10256"/>
            </a:avLst>
          </a:prstGeom>
          <a:solidFill>
            <a:srgbClr val="0A3D2A"/>
          </a:solidFill>
          <a:ln w="19050">
            <a:solidFill>
              <a:srgbClr val="059669"/>
            </a:solidFill>
            <a:prstDash val="solid"/>
          </a:ln>
        </p:spPr>
      </p:sp>
      <p:pic>
        <p:nvPicPr>
          <p:cNvPr id="4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88536" y="3694176"/>
            <a:ext cx="292608" cy="292608"/>
          </a:xfrm>
          <a:prstGeom prst="rect">
            <a:avLst/>
          </a:prstGeom>
        </p:spPr>
      </p:pic>
      <p:sp>
        <p:nvSpPr>
          <p:cNvPr id="42" name="Text 37"/>
          <p:cNvSpPr/>
          <p:nvPr/>
        </p:nvSpPr>
        <p:spPr>
          <a:xfrm>
            <a:off x="3950208" y="4005072"/>
            <a:ext cx="9692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596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Telemetry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0596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</a:t>
            </a:r>
            <a:endParaRPr lang="en-US" sz="800" dirty="0"/>
          </a:p>
        </p:txBody>
      </p:sp>
      <p:sp>
        <p:nvSpPr>
          <p:cNvPr id="43" name="Text 38"/>
          <p:cNvSpPr/>
          <p:nvPr/>
        </p:nvSpPr>
        <p:spPr>
          <a:xfrm>
            <a:off x="4992624" y="3803904"/>
            <a:ext cx="164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000" dirty="0"/>
          </a:p>
        </p:txBody>
      </p:sp>
      <p:sp>
        <p:nvSpPr>
          <p:cNvPr id="44" name="Shape 39"/>
          <p:cNvSpPr/>
          <p:nvPr/>
        </p:nvSpPr>
        <p:spPr>
          <a:xfrm>
            <a:off x="5175504" y="3621024"/>
            <a:ext cx="1042416" cy="713232"/>
          </a:xfrm>
          <a:prstGeom prst="roundRect">
            <a:avLst>
              <a:gd name="adj" fmla="val 10256"/>
            </a:avLst>
          </a:prstGeom>
          <a:solidFill>
            <a:srgbClr val="3D2200"/>
          </a:solidFill>
          <a:ln w="19050">
            <a:solidFill>
              <a:srgbClr val="D97706"/>
            </a:solidFill>
            <a:prstDash val="solid"/>
          </a:ln>
        </p:spPr>
      </p:sp>
      <p:pic>
        <p:nvPicPr>
          <p:cNvPr id="4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50408" y="3694176"/>
            <a:ext cx="292608" cy="292608"/>
          </a:xfrm>
          <a:prstGeom prst="rect">
            <a:avLst/>
          </a:prstGeom>
        </p:spPr>
      </p:pic>
      <p:sp>
        <p:nvSpPr>
          <p:cNvPr id="46" name="Text 40"/>
          <p:cNvSpPr/>
          <p:nvPr/>
        </p:nvSpPr>
        <p:spPr>
          <a:xfrm>
            <a:off x="5212080" y="4005072"/>
            <a:ext cx="9692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D9770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ML Risk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D9770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Prediction</a:t>
            </a:r>
            <a:endParaRPr lang="en-US" sz="800" dirty="0"/>
          </a:p>
        </p:txBody>
      </p:sp>
      <p:sp>
        <p:nvSpPr>
          <p:cNvPr id="47" name="Text 41"/>
          <p:cNvSpPr/>
          <p:nvPr/>
        </p:nvSpPr>
        <p:spPr>
          <a:xfrm>
            <a:off x="6254496" y="3803904"/>
            <a:ext cx="164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000" dirty="0"/>
          </a:p>
        </p:txBody>
      </p:sp>
      <p:sp>
        <p:nvSpPr>
          <p:cNvPr id="48" name="Shape 42"/>
          <p:cNvSpPr/>
          <p:nvPr/>
        </p:nvSpPr>
        <p:spPr>
          <a:xfrm>
            <a:off x="6437376" y="3621024"/>
            <a:ext cx="1042416" cy="713232"/>
          </a:xfrm>
          <a:prstGeom prst="roundRect">
            <a:avLst>
              <a:gd name="adj" fmla="val 10256"/>
            </a:avLst>
          </a:prstGeom>
          <a:solidFill>
            <a:srgbClr val="0A3D2A"/>
          </a:solidFill>
          <a:ln w="19050">
            <a:solidFill>
              <a:srgbClr val="059669"/>
            </a:solidFill>
            <a:prstDash val="solid"/>
          </a:ln>
        </p:spPr>
      </p:sp>
      <p:pic>
        <p:nvPicPr>
          <p:cNvPr id="4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12280" y="3694176"/>
            <a:ext cx="292608" cy="292608"/>
          </a:xfrm>
          <a:prstGeom prst="rect">
            <a:avLst/>
          </a:prstGeom>
        </p:spPr>
      </p:pic>
      <p:sp>
        <p:nvSpPr>
          <p:cNvPr id="50" name="Text 43"/>
          <p:cNvSpPr/>
          <p:nvPr/>
        </p:nvSpPr>
        <p:spPr>
          <a:xfrm>
            <a:off x="6473952" y="4005072"/>
            <a:ext cx="9692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596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GenAI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0596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Explanation</a:t>
            </a:r>
            <a:endParaRPr lang="en-US" sz="800" dirty="0"/>
          </a:p>
        </p:txBody>
      </p:sp>
      <p:sp>
        <p:nvSpPr>
          <p:cNvPr id="51" name="Text 44"/>
          <p:cNvSpPr/>
          <p:nvPr/>
        </p:nvSpPr>
        <p:spPr>
          <a:xfrm>
            <a:off x="7516368" y="3803904"/>
            <a:ext cx="164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000" dirty="0"/>
          </a:p>
        </p:txBody>
      </p:sp>
      <p:sp>
        <p:nvSpPr>
          <p:cNvPr id="52" name="Shape 45"/>
          <p:cNvSpPr/>
          <p:nvPr/>
        </p:nvSpPr>
        <p:spPr>
          <a:xfrm>
            <a:off x="7699248" y="3621024"/>
            <a:ext cx="1042416" cy="713232"/>
          </a:xfrm>
          <a:prstGeom prst="roundRect">
            <a:avLst>
              <a:gd name="adj" fmla="val 10256"/>
            </a:avLst>
          </a:prstGeom>
          <a:solidFill>
            <a:srgbClr val="3D2200"/>
          </a:solidFill>
          <a:ln w="19050">
            <a:solidFill>
              <a:srgbClr val="D97706"/>
            </a:solidFill>
            <a:prstDash val="solid"/>
          </a:ln>
        </p:spPr>
      </p:sp>
      <p:pic>
        <p:nvPicPr>
          <p:cNvPr id="5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74152" y="3694176"/>
            <a:ext cx="292608" cy="292608"/>
          </a:xfrm>
          <a:prstGeom prst="rect">
            <a:avLst/>
          </a:prstGeom>
        </p:spPr>
      </p:pic>
      <p:sp>
        <p:nvSpPr>
          <p:cNvPr id="54" name="Text 46"/>
          <p:cNvSpPr/>
          <p:nvPr/>
        </p:nvSpPr>
        <p:spPr>
          <a:xfrm>
            <a:off x="7735824" y="4005072"/>
            <a:ext cx="9692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D9770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Operator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D9770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Action</a:t>
            </a:r>
            <a:endParaRPr lang="en-US" sz="800" dirty="0"/>
          </a:p>
        </p:txBody>
      </p:sp>
      <p:sp>
        <p:nvSpPr>
          <p:cNvPr id="55" name="Shape 47"/>
          <p:cNvSpPr/>
          <p:nvPr/>
        </p:nvSpPr>
        <p:spPr>
          <a:xfrm>
            <a:off x="128016" y="4352544"/>
            <a:ext cx="9144000" cy="809244"/>
          </a:xfrm>
          <a:prstGeom prst="rect">
            <a:avLst/>
          </a:prstGeom>
          <a:solidFill>
            <a:srgbClr val="0F1923"/>
          </a:solidFill>
          <a:ln w="12700">
            <a:solidFill>
              <a:srgbClr val="0F1923"/>
            </a:solidFill>
            <a:prstDash val="solid"/>
          </a:ln>
        </p:spPr>
      </p:sp>
      <p:sp>
        <p:nvSpPr>
          <p:cNvPr id="56" name="Shape 48"/>
          <p:cNvSpPr/>
          <p:nvPr/>
        </p:nvSpPr>
        <p:spPr>
          <a:xfrm>
            <a:off x="256032" y="4389120"/>
            <a:ext cx="36576" cy="65836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7" name="Text 49"/>
          <p:cNvSpPr/>
          <p:nvPr/>
        </p:nvSpPr>
        <p:spPr>
          <a:xfrm>
            <a:off x="402336" y="4361688"/>
            <a:ext cx="8595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Transform solar plant monitoring from reactive troubleshooting to proactive, intelligent maintenance.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923"/>
          </a:solidFill>
          <a:ln w="12700">
            <a:solidFill>
              <a:srgbClr val="0F192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56032" y="201168"/>
            <a:ext cx="420624" cy="420624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2011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04672" y="91440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Our Proposed Approach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699248" y="201168"/>
            <a:ext cx="1261872" cy="347472"/>
          </a:xfrm>
          <a:prstGeom prst="roundRect">
            <a:avLst>
              <a:gd name="adj" fmla="val 31579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99248" y="201168"/>
            <a:ext cx="1261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5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END-TO-END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64592" y="914400"/>
            <a:ext cx="8814816" cy="768096"/>
          </a:xfrm>
          <a:prstGeom prst="rect">
            <a:avLst/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  <a:effectLst>
            <a:outerShdw blurRad="127000" dist="38100" dir="8100000" algn="bl" rotWithShape="0">
              <a:srgbClr val="94A3B8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56032" y="1024128"/>
            <a:ext cx="1225296" cy="566928"/>
          </a:xfrm>
          <a:prstGeom prst="roundRect">
            <a:avLst>
              <a:gd name="adj" fmla="val 9677"/>
            </a:avLst>
          </a:prstGeom>
          <a:solidFill>
            <a:srgbClr val="0A3D2A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1752" y="1024128"/>
            <a:ext cx="11338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596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Telemetry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0596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517904" y="1060704"/>
            <a:ext cx="1463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682496" y="1024128"/>
            <a:ext cx="1225296" cy="566928"/>
          </a:xfrm>
          <a:prstGeom prst="roundRect">
            <a:avLst>
              <a:gd name="adj" fmla="val 9677"/>
            </a:avLst>
          </a:prstGeom>
          <a:solidFill>
            <a:srgbClr val="3D2200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728216" y="1024128"/>
            <a:ext cx="11338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D9770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Feature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D9770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Engineering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944368" y="1060704"/>
            <a:ext cx="1463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3108960" y="1024128"/>
            <a:ext cx="1225296" cy="566928"/>
          </a:xfrm>
          <a:prstGeom prst="roundRect">
            <a:avLst>
              <a:gd name="adj" fmla="val 9677"/>
            </a:avLst>
          </a:prstGeom>
          <a:solidFill>
            <a:srgbClr val="0A3D2A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154680" y="1024128"/>
            <a:ext cx="11338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596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LightGBM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0596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Prediction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370832" y="1060704"/>
            <a:ext cx="1463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4535424" y="1024128"/>
            <a:ext cx="1225296" cy="566928"/>
          </a:xfrm>
          <a:prstGeom prst="roundRect">
            <a:avLst>
              <a:gd name="adj" fmla="val 9677"/>
            </a:avLst>
          </a:prstGeom>
          <a:solidFill>
            <a:srgbClr val="3D2200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81144" y="1024128"/>
            <a:ext cx="11338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D9770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Factor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D9770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Explanation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797296" y="1060704"/>
            <a:ext cx="1463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5961888" y="1024128"/>
            <a:ext cx="1225296" cy="566928"/>
          </a:xfrm>
          <a:prstGeom prst="roundRect">
            <a:avLst>
              <a:gd name="adj" fmla="val 9677"/>
            </a:avLst>
          </a:prstGeom>
          <a:solidFill>
            <a:srgbClr val="0A3D2A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007608" y="1024128"/>
            <a:ext cx="11338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596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FastAPI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0596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Serving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7223760" y="1060704"/>
            <a:ext cx="1463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7388352" y="1024128"/>
            <a:ext cx="1225296" cy="566928"/>
          </a:xfrm>
          <a:prstGeom prst="roundRect">
            <a:avLst>
              <a:gd name="adj" fmla="val 9677"/>
            </a:avLst>
          </a:prstGeom>
          <a:solidFill>
            <a:srgbClr val="3D2200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34072" y="1024128"/>
            <a:ext cx="11338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D9770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Streamlit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D9770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Dashboard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164592" y="1810512"/>
            <a:ext cx="2066544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blurRad="127000" dist="38100" dir="8100000" algn="bl" rotWithShape="0">
              <a:srgbClr val="94A3B8">
                <a:alpha val="2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164592" y="1810512"/>
            <a:ext cx="2066544" cy="5029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56032" y="1901952"/>
            <a:ext cx="402336" cy="402336"/>
          </a:xfrm>
          <a:prstGeom prst="ellipse">
            <a:avLst/>
          </a:prstGeom>
          <a:solidFill>
            <a:srgbClr val="D1FAE5"/>
          </a:solidFill>
          <a:ln w="15240">
            <a:solidFill>
              <a:srgbClr val="059669"/>
            </a:solidFill>
            <a:prstDash val="solid"/>
          </a:ln>
        </p:spPr>
      </p:sp>
      <p:pic>
        <p:nvPicPr>
          <p:cNvPr id="2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965960"/>
            <a:ext cx="274320" cy="274320"/>
          </a:xfrm>
          <a:prstGeom prst="rect">
            <a:avLst/>
          </a:prstGeom>
        </p:spPr>
      </p:pic>
      <p:sp>
        <p:nvSpPr>
          <p:cNvPr id="30" name="Text 27"/>
          <p:cNvSpPr/>
          <p:nvPr/>
        </p:nvSpPr>
        <p:spPr>
          <a:xfrm>
            <a:off x="731520" y="1901952"/>
            <a:ext cx="14081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000" b="1" dirty="0">
                <a:solidFill>
                  <a:srgbClr val="1E2D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Telemetry Processing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256032" y="2313432"/>
            <a:ext cx="1883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power, temperature, voltage &amp; behavioral data preprocessed into clean inverter-level structured inputs.</a:t>
            </a:r>
            <a:endParaRPr lang="en-US" sz="800" dirty="0"/>
          </a:p>
        </p:txBody>
      </p:sp>
      <p:sp>
        <p:nvSpPr>
          <p:cNvPr id="32" name="Shape 29"/>
          <p:cNvSpPr/>
          <p:nvPr/>
        </p:nvSpPr>
        <p:spPr>
          <a:xfrm>
            <a:off x="164592" y="2724912"/>
            <a:ext cx="2066544" cy="274320"/>
          </a:xfrm>
          <a:prstGeom prst="rect">
            <a:avLst/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256032" y="2734056"/>
            <a:ext cx="1920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 Focuses model on meaningful operational signals, not raw noise.</a:t>
            </a:r>
            <a:endParaRPr lang="en-US" sz="750" dirty="0"/>
          </a:p>
        </p:txBody>
      </p:sp>
      <p:sp>
        <p:nvSpPr>
          <p:cNvPr id="34" name="Shape 31"/>
          <p:cNvSpPr/>
          <p:nvPr/>
        </p:nvSpPr>
        <p:spPr>
          <a:xfrm>
            <a:off x="2340864" y="1810512"/>
            <a:ext cx="2066544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blurRad="127000" dist="38100" dir="8100000" algn="bl" rotWithShape="0">
              <a:srgbClr val="94A3B8">
                <a:alpha val="20000"/>
              </a:srgbClr>
            </a:outerShdw>
          </a:effectLst>
        </p:spPr>
      </p:sp>
      <p:sp>
        <p:nvSpPr>
          <p:cNvPr id="35" name="Shape 32"/>
          <p:cNvSpPr/>
          <p:nvPr/>
        </p:nvSpPr>
        <p:spPr>
          <a:xfrm>
            <a:off x="2340864" y="1810512"/>
            <a:ext cx="2066544" cy="5029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2432304" y="1901952"/>
            <a:ext cx="402336" cy="402336"/>
          </a:xfrm>
          <a:prstGeom prst="ellipse">
            <a:avLst/>
          </a:prstGeom>
          <a:solidFill>
            <a:srgbClr val="FEF3C7"/>
          </a:solidFill>
          <a:ln w="15240">
            <a:solidFill>
              <a:srgbClr val="D97706"/>
            </a:solidFill>
            <a:prstDash val="solid"/>
          </a:ln>
        </p:spPr>
      </p:sp>
      <p:pic>
        <p:nvPicPr>
          <p:cNvPr id="3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96312" y="1965960"/>
            <a:ext cx="274320" cy="274320"/>
          </a:xfrm>
          <a:prstGeom prst="rect">
            <a:avLst/>
          </a:prstGeom>
        </p:spPr>
      </p:pic>
      <p:sp>
        <p:nvSpPr>
          <p:cNvPr id="38" name="Text 34"/>
          <p:cNvSpPr/>
          <p:nvPr/>
        </p:nvSpPr>
        <p:spPr>
          <a:xfrm>
            <a:off x="2907792" y="1901952"/>
            <a:ext cx="14081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000" b="1" dirty="0">
                <a:solidFill>
                  <a:srgbClr val="1E2D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Feature Engineering</a:t>
            </a:r>
            <a:endParaRPr lang="en-US" sz="1000" dirty="0"/>
          </a:p>
        </p:txBody>
      </p:sp>
      <p:sp>
        <p:nvSpPr>
          <p:cNvPr id="39" name="Text 35"/>
          <p:cNvSpPr/>
          <p:nvPr/>
        </p:nvSpPr>
        <p:spPr>
          <a:xfrm>
            <a:off x="2432304" y="2313432"/>
            <a:ext cx="1883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stats, temperature trends, daily variation patterns and performance deviation indicators engineered from raw data.</a:t>
            </a:r>
            <a:endParaRPr lang="en-US" sz="800" dirty="0"/>
          </a:p>
        </p:txBody>
      </p:sp>
      <p:sp>
        <p:nvSpPr>
          <p:cNvPr id="40" name="Shape 36"/>
          <p:cNvSpPr/>
          <p:nvPr/>
        </p:nvSpPr>
        <p:spPr>
          <a:xfrm>
            <a:off x="2340864" y="2724912"/>
            <a:ext cx="2066544" cy="274320"/>
          </a:xfrm>
          <a:prstGeom prst="rect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2432304" y="2734056"/>
            <a:ext cx="1920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 Exposes subtle pre-failure behavioral shifts before visible breakdown.</a:t>
            </a:r>
            <a:endParaRPr lang="en-US" sz="750" dirty="0"/>
          </a:p>
        </p:txBody>
      </p:sp>
      <p:sp>
        <p:nvSpPr>
          <p:cNvPr id="42" name="Shape 38"/>
          <p:cNvSpPr/>
          <p:nvPr/>
        </p:nvSpPr>
        <p:spPr>
          <a:xfrm>
            <a:off x="4517136" y="1810512"/>
            <a:ext cx="2066544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blurRad="127000" dist="38100" dir="8100000" algn="bl" rotWithShape="0">
              <a:srgbClr val="94A3B8">
                <a:alpha val="20000"/>
              </a:srgbClr>
            </a:outerShdw>
          </a:effectLst>
        </p:spPr>
      </p:sp>
      <p:sp>
        <p:nvSpPr>
          <p:cNvPr id="43" name="Shape 39"/>
          <p:cNvSpPr/>
          <p:nvPr/>
        </p:nvSpPr>
        <p:spPr>
          <a:xfrm>
            <a:off x="4517136" y="1810512"/>
            <a:ext cx="2066544" cy="5029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4" name="Shape 40"/>
          <p:cNvSpPr/>
          <p:nvPr/>
        </p:nvSpPr>
        <p:spPr>
          <a:xfrm>
            <a:off x="4608576" y="1901952"/>
            <a:ext cx="402336" cy="402336"/>
          </a:xfrm>
          <a:prstGeom prst="ellipse">
            <a:avLst/>
          </a:prstGeom>
          <a:solidFill>
            <a:srgbClr val="D1FAE5"/>
          </a:solidFill>
          <a:ln w="15240">
            <a:solidFill>
              <a:srgbClr val="059669"/>
            </a:solidFill>
            <a:prstDash val="solid"/>
          </a:ln>
        </p:spPr>
      </p:sp>
      <p:pic>
        <p:nvPicPr>
          <p:cNvPr id="4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72584" y="1965960"/>
            <a:ext cx="274320" cy="274320"/>
          </a:xfrm>
          <a:prstGeom prst="rect">
            <a:avLst/>
          </a:prstGeom>
        </p:spPr>
      </p:pic>
      <p:sp>
        <p:nvSpPr>
          <p:cNvPr id="46" name="Text 41"/>
          <p:cNvSpPr/>
          <p:nvPr/>
        </p:nvSpPr>
        <p:spPr>
          <a:xfrm>
            <a:off x="5084064" y="1901952"/>
            <a:ext cx="14081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000" b="1" dirty="0">
                <a:solidFill>
                  <a:srgbClr val="1E2D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LightGBM Risk Prediction</a:t>
            </a:r>
            <a:endParaRPr lang="en-US" sz="1000" dirty="0"/>
          </a:p>
        </p:txBody>
      </p:sp>
      <p:sp>
        <p:nvSpPr>
          <p:cNvPr id="47" name="Text 42"/>
          <p:cNvSpPr/>
          <p:nvPr/>
        </p:nvSpPr>
        <p:spPr>
          <a:xfrm>
            <a:off x="4608576" y="2313432"/>
            <a:ext cx="1883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Classifies each inverter as high-risk or low-risk. Fast, accurate, and optimized for structured tabular plant data.</a:t>
            </a:r>
            <a:endParaRPr lang="en-US" sz="800" dirty="0"/>
          </a:p>
        </p:txBody>
      </p:sp>
      <p:sp>
        <p:nvSpPr>
          <p:cNvPr id="48" name="Shape 43"/>
          <p:cNvSpPr/>
          <p:nvPr/>
        </p:nvSpPr>
        <p:spPr>
          <a:xfrm>
            <a:off x="4517136" y="2724912"/>
            <a:ext cx="2066544" cy="274320"/>
          </a:xfrm>
          <a:prstGeom prst="rect">
            <a:avLst/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9" name="Text 44"/>
          <p:cNvSpPr/>
          <p:nvPr/>
        </p:nvSpPr>
        <p:spPr>
          <a:xfrm>
            <a:off x="4608576" y="2734056"/>
            <a:ext cx="1920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 Practical prediction engine — accurate and lightweight for deployment.</a:t>
            </a:r>
            <a:endParaRPr lang="en-US" sz="750" dirty="0"/>
          </a:p>
        </p:txBody>
      </p:sp>
      <p:sp>
        <p:nvSpPr>
          <p:cNvPr id="50" name="Shape 45"/>
          <p:cNvSpPr/>
          <p:nvPr/>
        </p:nvSpPr>
        <p:spPr>
          <a:xfrm>
            <a:off x="6693408" y="1810512"/>
            <a:ext cx="2066544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blurRad="127000" dist="38100" dir="8100000" algn="bl" rotWithShape="0">
              <a:srgbClr val="94A3B8">
                <a:alpha val="20000"/>
              </a:srgbClr>
            </a:outerShdw>
          </a:effectLst>
        </p:spPr>
      </p:sp>
      <p:sp>
        <p:nvSpPr>
          <p:cNvPr id="51" name="Shape 46"/>
          <p:cNvSpPr/>
          <p:nvPr/>
        </p:nvSpPr>
        <p:spPr>
          <a:xfrm>
            <a:off x="6693408" y="1810512"/>
            <a:ext cx="2066544" cy="5029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2" name="Shape 47"/>
          <p:cNvSpPr/>
          <p:nvPr/>
        </p:nvSpPr>
        <p:spPr>
          <a:xfrm>
            <a:off x="6784848" y="1901952"/>
            <a:ext cx="402336" cy="402336"/>
          </a:xfrm>
          <a:prstGeom prst="ellipse">
            <a:avLst/>
          </a:prstGeom>
          <a:solidFill>
            <a:srgbClr val="FEF3C7"/>
          </a:solidFill>
          <a:ln w="15240">
            <a:solidFill>
              <a:srgbClr val="D97706"/>
            </a:solidFill>
            <a:prstDash val="solid"/>
          </a:ln>
        </p:spPr>
      </p:sp>
      <p:pic>
        <p:nvPicPr>
          <p:cNvPr id="5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48856" y="1965960"/>
            <a:ext cx="274320" cy="274320"/>
          </a:xfrm>
          <a:prstGeom prst="rect">
            <a:avLst/>
          </a:prstGeom>
        </p:spPr>
      </p:pic>
      <p:sp>
        <p:nvSpPr>
          <p:cNvPr id="54" name="Text 48"/>
          <p:cNvSpPr/>
          <p:nvPr/>
        </p:nvSpPr>
        <p:spPr>
          <a:xfrm>
            <a:off x="7260336" y="1901952"/>
            <a:ext cx="14081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000" b="1" dirty="0">
                <a:solidFill>
                  <a:srgbClr val="1E2D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SHAP Factor Explanation</a:t>
            </a:r>
            <a:endParaRPr lang="en-US" sz="1000" dirty="0"/>
          </a:p>
        </p:txBody>
      </p:sp>
      <p:sp>
        <p:nvSpPr>
          <p:cNvPr id="55" name="Text 49"/>
          <p:cNvSpPr/>
          <p:nvPr/>
        </p:nvSpPr>
        <p:spPr>
          <a:xfrm>
            <a:off x="6784848" y="2313432"/>
            <a:ext cx="1883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top contributing factors per inverter: power variation, temperature signals, and operating trend anomalies.</a:t>
            </a:r>
            <a:endParaRPr lang="en-US" sz="800" dirty="0"/>
          </a:p>
        </p:txBody>
      </p:sp>
      <p:sp>
        <p:nvSpPr>
          <p:cNvPr id="56" name="Shape 50"/>
          <p:cNvSpPr/>
          <p:nvPr/>
        </p:nvSpPr>
        <p:spPr>
          <a:xfrm>
            <a:off x="6693408" y="2724912"/>
            <a:ext cx="2066544" cy="274320"/>
          </a:xfrm>
          <a:prstGeom prst="rect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57" name="Text 51"/>
          <p:cNvSpPr/>
          <p:nvPr/>
        </p:nvSpPr>
        <p:spPr>
          <a:xfrm>
            <a:off x="6784848" y="2734056"/>
            <a:ext cx="1920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 Trustworthy and actionable — not a black-box model.</a:t>
            </a:r>
            <a:endParaRPr lang="en-US" sz="750" dirty="0"/>
          </a:p>
        </p:txBody>
      </p:sp>
      <p:sp>
        <p:nvSpPr>
          <p:cNvPr id="58" name="Shape 52"/>
          <p:cNvSpPr/>
          <p:nvPr/>
        </p:nvSpPr>
        <p:spPr>
          <a:xfrm>
            <a:off x="1362456" y="3072384"/>
            <a:ext cx="2066544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blurRad="127000" dist="38100" dir="8100000" algn="bl" rotWithShape="0">
              <a:srgbClr val="94A3B8">
                <a:alpha val="20000"/>
              </a:srgbClr>
            </a:outerShdw>
          </a:effectLst>
        </p:spPr>
      </p:sp>
      <p:sp>
        <p:nvSpPr>
          <p:cNvPr id="59" name="Shape 53"/>
          <p:cNvSpPr/>
          <p:nvPr/>
        </p:nvSpPr>
        <p:spPr>
          <a:xfrm>
            <a:off x="1362456" y="3072384"/>
            <a:ext cx="2066544" cy="5029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60" name="Shape 54"/>
          <p:cNvSpPr/>
          <p:nvPr/>
        </p:nvSpPr>
        <p:spPr>
          <a:xfrm>
            <a:off x="1453896" y="3163824"/>
            <a:ext cx="402336" cy="402336"/>
          </a:xfrm>
          <a:prstGeom prst="ellipse">
            <a:avLst/>
          </a:prstGeom>
          <a:solidFill>
            <a:srgbClr val="D1FAE5"/>
          </a:solidFill>
          <a:ln w="15240">
            <a:solidFill>
              <a:srgbClr val="059669"/>
            </a:solidFill>
            <a:prstDash val="solid"/>
          </a:ln>
        </p:spPr>
      </p:sp>
      <p:pic>
        <p:nvPicPr>
          <p:cNvPr id="6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17904" y="3227832"/>
            <a:ext cx="274320" cy="274320"/>
          </a:xfrm>
          <a:prstGeom prst="rect">
            <a:avLst/>
          </a:prstGeom>
        </p:spPr>
      </p:pic>
      <p:sp>
        <p:nvSpPr>
          <p:cNvPr id="62" name="Text 55"/>
          <p:cNvSpPr/>
          <p:nvPr/>
        </p:nvSpPr>
        <p:spPr>
          <a:xfrm>
            <a:off x="1929384" y="3163824"/>
            <a:ext cx="14081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000" b="1" dirty="0">
                <a:solidFill>
                  <a:srgbClr val="1E2D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FastAPI Backend</a:t>
            </a:r>
            <a:endParaRPr lang="en-US" sz="1000" dirty="0"/>
          </a:p>
        </p:txBody>
      </p:sp>
      <p:sp>
        <p:nvSpPr>
          <p:cNvPr id="63" name="Text 56"/>
          <p:cNvSpPr/>
          <p:nvPr/>
        </p:nvSpPr>
        <p:spPr>
          <a:xfrm>
            <a:off x="1453896" y="3575304"/>
            <a:ext cx="1883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endpoints: /health · /predict · /qa — with Pydantic validation, clean error handling and modular structure.</a:t>
            </a:r>
            <a:endParaRPr lang="en-US" sz="800" dirty="0"/>
          </a:p>
        </p:txBody>
      </p:sp>
      <p:sp>
        <p:nvSpPr>
          <p:cNvPr id="64" name="Shape 57"/>
          <p:cNvSpPr/>
          <p:nvPr/>
        </p:nvSpPr>
        <p:spPr>
          <a:xfrm>
            <a:off x="1362456" y="3986784"/>
            <a:ext cx="2066544" cy="274320"/>
          </a:xfrm>
          <a:prstGeom prst="rect">
            <a:avLst/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65" name="Text 58"/>
          <p:cNvSpPr/>
          <p:nvPr/>
        </p:nvSpPr>
        <p:spPr>
          <a:xfrm>
            <a:off x="1453896" y="3995928"/>
            <a:ext cx="1920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 Scalable, easy to integrate, and ready for frontend connection.</a:t>
            </a:r>
            <a:endParaRPr lang="en-US" sz="750" dirty="0"/>
          </a:p>
        </p:txBody>
      </p:sp>
      <p:sp>
        <p:nvSpPr>
          <p:cNvPr id="66" name="Shape 59"/>
          <p:cNvSpPr/>
          <p:nvPr/>
        </p:nvSpPr>
        <p:spPr>
          <a:xfrm>
            <a:off x="3538728" y="3072384"/>
            <a:ext cx="2066544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blurRad="127000" dist="38100" dir="8100000" algn="bl" rotWithShape="0">
              <a:srgbClr val="94A3B8">
                <a:alpha val="20000"/>
              </a:srgbClr>
            </a:outerShdw>
          </a:effectLst>
        </p:spPr>
      </p:sp>
      <p:sp>
        <p:nvSpPr>
          <p:cNvPr id="67" name="Shape 60"/>
          <p:cNvSpPr/>
          <p:nvPr/>
        </p:nvSpPr>
        <p:spPr>
          <a:xfrm>
            <a:off x="3538728" y="3072384"/>
            <a:ext cx="2066544" cy="5029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8" name="Shape 61"/>
          <p:cNvSpPr/>
          <p:nvPr/>
        </p:nvSpPr>
        <p:spPr>
          <a:xfrm>
            <a:off x="3630168" y="3163824"/>
            <a:ext cx="402336" cy="402336"/>
          </a:xfrm>
          <a:prstGeom prst="ellipse">
            <a:avLst/>
          </a:prstGeom>
          <a:solidFill>
            <a:srgbClr val="FEF3C7"/>
          </a:solidFill>
          <a:ln w="15240">
            <a:solidFill>
              <a:srgbClr val="D97706"/>
            </a:solidFill>
            <a:prstDash val="solid"/>
          </a:ln>
        </p:spPr>
      </p:sp>
      <p:pic>
        <p:nvPicPr>
          <p:cNvPr id="69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94176" y="3227832"/>
            <a:ext cx="274320" cy="274320"/>
          </a:xfrm>
          <a:prstGeom prst="rect">
            <a:avLst/>
          </a:prstGeom>
        </p:spPr>
      </p:pic>
      <p:sp>
        <p:nvSpPr>
          <p:cNvPr id="70" name="Text 62"/>
          <p:cNvSpPr/>
          <p:nvPr/>
        </p:nvSpPr>
        <p:spPr>
          <a:xfrm>
            <a:off x="4105656" y="3163824"/>
            <a:ext cx="14081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000" b="1" dirty="0">
                <a:solidFill>
                  <a:srgbClr val="1E2D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Streamlit Dashboard</a:t>
            </a:r>
            <a:endParaRPr lang="en-US" sz="1000" dirty="0"/>
          </a:p>
        </p:txBody>
      </p:sp>
      <p:sp>
        <p:nvSpPr>
          <p:cNvPr id="71" name="Text 63"/>
          <p:cNvSpPr/>
          <p:nvPr/>
        </p:nvSpPr>
        <p:spPr>
          <a:xfrm>
            <a:off x="3630168" y="3575304"/>
            <a:ext cx="1883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inverter cards with green/red risk indicators, detailed drill-down views and an integrated chatbot panel.</a:t>
            </a:r>
            <a:endParaRPr lang="en-US" sz="800" dirty="0"/>
          </a:p>
        </p:txBody>
      </p:sp>
      <p:sp>
        <p:nvSpPr>
          <p:cNvPr id="72" name="Shape 64"/>
          <p:cNvSpPr/>
          <p:nvPr/>
        </p:nvSpPr>
        <p:spPr>
          <a:xfrm>
            <a:off x="3538728" y="3986784"/>
            <a:ext cx="2066544" cy="274320"/>
          </a:xfrm>
          <a:prstGeom prst="rect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73" name="Text 65"/>
          <p:cNvSpPr/>
          <p:nvPr/>
        </p:nvSpPr>
        <p:spPr>
          <a:xfrm>
            <a:off x="3630168" y="3995928"/>
            <a:ext cx="1920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 Converts model output into a usable plant-operator interface.</a:t>
            </a:r>
            <a:endParaRPr lang="en-US" sz="750" dirty="0"/>
          </a:p>
        </p:txBody>
      </p:sp>
      <p:sp>
        <p:nvSpPr>
          <p:cNvPr id="74" name="Shape 66"/>
          <p:cNvSpPr/>
          <p:nvPr/>
        </p:nvSpPr>
        <p:spPr>
          <a:xfrm>
            <a:off x="5715000" y="3072384"/>
            <a:ext cx="2066544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blurRad="127000" dist="38100" dir="8100000" algn="bl" rotWithShape="0">
              <a:srgbClr val="94A3B8">
                <a:alpha val="20000"/>
              </a:srgbClr>
            </a:outerShdw>
          </a:effectLst>
        </p:spPr>
      </p:sp>
      <p:sp>
        <p:nvSpPr>
          <p:cNvPr id="75" name="Shape 67"/>
          <p:cNvSpPr/>
          <p:nvPr/>
        </p:nvSpPr>
        <p:spPr>
          <a:xfrm>
            <a:off x="5715000" y="3072384"/>
            <a:ext cx="2066544" cy="5029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6" name="Shape 68"/>
          <p:cNvSpPr/>
          <p:nvPr/>
        </p:nvSpPr>
        <p:spPr>
          <a:xfrm>
            <a:off x="5806440" y="3163824"/>
            <a:ext cx="402336" cy="402336"/>
          </a:xfrm>
          <a:prstGeom prst="ellipse">
            <a:avLst/>
          </a:prstGeom>
          <a:solidFill>
            <a:srgbClr val="D1FAE5"/>
          </a:solidFill>
          <a:ln w="15240">
            <a:solidFill>
              <a:srgbClr val="059669"/>
            </a:solidFill>
            <a:prstDash val="solid"/>
          </a:ln>
        </p:spPr>
      </p:sp>
      <p:pic>
        <p:nvPicPr>
          <p:cNvPr id="77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70448" y="3227832"/>
            <a:ext cx="274320" cy="274320"/>
          </a:xfrm>
          <a:prstGeom prst="rect">
            <a:avLst/>
          </a:prstGeom>
        </p:spPr>
      </p:pic>
      <p:sp>
        <p:nvSpPr>
          <p:cNvPr id="78" name="Text 69"/>
          <p:cNvSpPr/>
          <p:nvPr/>
        </p:nvSpPr>
        <p:spPr>
          <a:xfrm>
            <a:off x="6281928" y="3163824"/>
            <a:ext cx="14081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000" b="1" dirty="0">
                <a:solidFill>
                  <a:srgbClr val="1E2D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RAG Assistance Layer</a:t>
            </a:r>
            <a:endParaRPr lang="en-US" sz="1000" dirty="0"/>
          </a:p>
        </p:txBody>
      </p:sp>
      <p:sp>
        <p:nvSpPr>
          <p:cNvPr id="79" name="Text 70"/>
          <p:cNvSpPr/>
          <p:nvPr/>
        </p:nvSpPr>
        <p:spPr>
          <a:xfrm>
            <a:off x="5806440" y="3575304"/>
            <a:ext cx="1883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Retrieval-based QA chat layer for operators to query inverter condition and understand system outputs naturally.</a:t>
            </a:r>
            <a:endParaRPr lang="en-US" sz="800" dirty="0"/>
          </a:p>
        </p:txBody>
      </p:sp>
      <p:sp>
        <p:nvSpPr>
          <p:cNvPr id="80" name="Shape 71"/>
          <p:cNvSpPr/>
          <p:nvPr/>
        </p:nvSpPr>
        <p:spPr>
          <a:xfrm>
            <a:off x="5715000" y="3986784"/>
            <a:ext cx="2066544" cy="274320"/>
          </a:xfrm>
          <a:prstGeom prst="rect">
            <a:avLst/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81" name="Text 72"/>
          <p:cNvSpPr/>
          <p:nvPr/>
        </p:nvSpPr>
        <p:spPr>
          <a:xfrm>
            <a:off x="5806440" y="3995928"/>
            <a:ext cx="1920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 Makes technical outputs accessible for non-technical plant staff.</a:t>
            </a:r>
            <a:endParaRPr lang="en-US" sz="750" dirty="0"/>
          </a:p>
        </p:txBody>
      </p:sp>
      <p:sp>
        <p:nvSpPr>
          <p:cNvPr id="82" name="Shape 73"/>
          <p:cNvSpPr/>
          <p:nvPr/>
        </p:nvSpPr>
        <p:spPr>
          <a:xfrm>
            <a:off x="0" y="4334256"/>
            <a:ext cx="9144000" cy="809244"/>
          </a:xfrm>
          <a:prstGeom prst="rect">
            <a:avLst/>
          </a:prstGeom>
          <a:solidFill>
            <a:srgbClr val="0F1923"/>
          </a:solidFill>
          <a:ln w="12700">
            <a:solidFill>
              <a:srgbClr val="0F1923"/>
            </a:solidFill>
            <a:prstDash val="solid"/>
          </a:ln>
        </p:spPr>
      </p:sp>
      <p:sp>
        <p:nvSpPr>
          <p:cNvPr id="83" name="Shape 74"/>
          <p:cNvSpPr/>
          <p:nvPr/>
        </p:nvSpPr>
        <p:spPr>
          <a:xfrm>
            <a:off x="256032" y="4389120"/>
            <a:ext cx="36576" cy="65836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84" name="Text 75"/>
          <p:cNvSpPr/>
          <p:nvPr/>
        </p:nvSpPr>
        <p:spPr>
          <a:xfrm>
            <a:off x="402336" y="4361688"/>
            <a:ext cx="8595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approach does not stop at prediction — it delivers prediction, explanation, deployment, and usability in one complete system.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923"/>
          </a:solidFill>
          <a:ln w="12700">
            <a:solidFill>
              <a:srgbClr val="0F192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56032" y="201168"/>
            <a:ext cx="420624" cy="420624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2011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04672" y="91440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Choose Our Solution?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589520" y="201168"/>
            <a:ext cx="1371600" cy="347472"/>
          </a:xfrm>
          <a:prstGeom prst="roundRect">
            <a:avLst>
              <a:gd name="adj" fmla="val 31579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89520" y="20116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5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AI-POWERED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822960"/>
            <a:ext cx="2468880" cy="4320540"/>
          </a:xfrm>
          <a:prstGeom prst="rect">
            <a:avLst/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822960"/>
            <a:ext cx="54864" cy="43205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8016" y="896112"/>
            <a:ext cx="22311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</a:t>
            </a:r>
            <a:endParaRPr lang="en-US" sz="1500" dirty="0"/>
          </a:p>
          <a:p>
            <a:pPr marL="0" indent="0">
              <a:buNone/>
            </a:pPr>
            <a:r>
              <a:rPr lang="en-US" sz="1500" b="1" kern="0" spc="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ADVANTAGE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28016" y="1572768"/>
            <a:ext cx="2103120" cy="2743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64592" y="1773936"/>
            <a:ext cx="201168" cy="20116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1719072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7–10 Day Prediction Window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" y="193852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reactive — proactive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164592" y="2304288"/>
            <a:ext cx="201168" cy="20116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249424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Explainable AI (SHAP)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57200" y="246888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Operators trust decisions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164592" y="2834640"/>
            <a:ext cx="201168" cy="20116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2779776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RAG-Powered Chatbot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57200" y="2999232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Plain-language guidance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164592" y="3364992"/>
            <a:ext cx="201168" cy="20116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310128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Production FastAPI Stack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57200" y="3529584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Deploy-ready architecture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164592" y="3895344"/>
            <a:ext cx="201168" cy="20116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3840480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 Inverter Dashboard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57200" y="4059936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Operator-friendly UI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2615184" y="877824"/>
            <a:ext cx="2121408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blurRad="127000" dist="38100" dir="8100000" algn="bl" rotWithShape="0">
              <a:srgbClr val="94A3B8">
                <a:alpha val="2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2615184" y="877824"/>
            <a:ext cx="2121408" cy="457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706624" y="969264"/>
            <a:ext cx="347472" cy="274320"/>
          </a:xfrm>
          <a:prstGeom prst="roundRect">
            <a:avLst>
              <a:gd name="adj" fmla="val 20000"/>
            </a:avLst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06624" y="969264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596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000" dirty="0"/>
          </a:p>
        </p:txBody>
      </p:sp>
      <p:pic>
        <p:nvPicPr>
          <p:cNvPr id="3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0" y="969264"/>
            <a:ext cx="292608" cy="292608"/>
          </a:xfrm>
          <a:prstGeom prst="rect">
            <a:avLst/>
          </a:prstGeom>
        </p:spPr>
      </p:pic>
      <p:sp>
        <p:nvSpPr>
          <p:cNvPr id="32" name="Shape 29"/>
          <p:cNvSpPr/>
          <p:nvPr/>
        </p:nvSpPr>
        <p:spPr>
          <a:xfrm>
            <a:off x="2706624" y="1298448"/>
            <a:ext cx="1938528" cy="219456"/>
          </a:xfrm>
          <a:prstGeom prst="roundRect">
            <a:avLst>
              <a:gd name="adj" fmla="val 29167"/>
            </a:avLst>
          </a:prstGeom>
          <a:solidFill>
            <a:srgbClr val="D1FAE5"/>
          </a:solidFill>
          <a:ln w="9525">
            <a:solidFill>
              <a:srgbClr val="059669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2706624" y="1298448"/>
            <a:ext cx="19385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596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7–10 day window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2706624" y="1572768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D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Predictive vs Reactive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2706624" y="1865376"/>
            <a:ext cx="19385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Forecasts shutdown or performance degradation 7–10 days ahead — enabling proactive intervention before energy loss.</a:t>
            </a:r>
            <a:endParaRPr lang="en-US" sz="800" dirty="0"/>
          </a:p>
        </p:txBody>
      </p:sp>
      <p:sp>
        <p:nvSpPr>
          <p:cNvPr id="36" name="Shape 33"/>
          <p:cNvSpPr/>
          <p:nvPr/>
        </p:nvSpPr>
        <p:spPr>
          <a:xfrm>
            <a:off x="4846320" y="877824"/>
            <a:ext cx="2121408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blurRad="127000" dist="38100" dir="8100000" algn="bl" rotWithShape="0">
              <a:srgbClr val="94A3B8">
                <a:alpha val="20000"/>
              </a:srgbClr>
            </a:outerShdw>
          </a:effectLst>
        </p:spPr>
      </p:sp>
      <p:sp>
        <p:nvSpPr>
          <p:cNvPr id="37" name="Shape 34"/>
          <p:cNvSpPr/>
          <p:nvPr/>
        </p:nvSpPr>
        <p:spPr>
          <a:xfrm>
            <a:off x="4846320" y="877824"/>
            <a:ext cx="2121408" cy="457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937760" y="969264"/>
            <a:ext cx="347472" cy="274320"/>
          </a:xfrm>
          <a:prstGeom prst="roundRect">
            <a:avLst>
              <a:gd name="adj" fmla="val 2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4937760" y="969264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9770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000" dirty="0"/>
          </a:p>
        </p:txBody>
      </p:sp>
      <p:pic>
        <p:nvPicPr>
          <p:cNvPr id="4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7376" y="969264"/>
            <a:ext cx="292608" cy="292608"/>
          </a:xfrm>
          <a:prstGeom prst="rect">
            <a:avLst/>
          </a:prstGeom>
        </p:spPr>
      </p:pic>
      <p:sp>
        <p:nvSpPr>
          <p:cNvPr id="41" name="Shape 37"/>
          <p:cNvSpPr/>
          <p:nvPr/>
        </p:nvSpPr>
        <p:spPr>
          <a:xfrm>
            <a:off x="4937760" y="1298448"/>
            <a:ext cx="1938528" cy="219456"/>
          </a:xfrm>
          <a:prstGeom prst="roundRect">
            <a:avLst>
              <a:gd name="adj" fmla="val 29167"/>
            </a:avLst>
          </a:prstGeom>
          <a:solidFill>
            <a:srgbClr val="FEF3C7"/>
          </a:solidFill>
          <a:ln w="9525">
            <a:solidFill>
              <a:srgbClr val="D97706"/>
            </a:solidFill>
            <a:prstDash val="solid"/>
          </a:ln>
        </p:spPr>
      </p:sp>
      <p:sp>
        <p:nvSpPr>
          <p:cNvPr id="42" name="Text 38"/>
          <p:cNvSpPr/>
          <p:nvPr/>
        </p:nvSpPr>
        <p:spPr>
          <a:xfrm>
            <a:off x="4937760" y="1298448"/>
            <a:ext cx="19385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D9770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black boxes</a:t>
            </a:r>
            <a:endParaRPr lang="en-US" sz="800" dirty="0"/>
          </a:p>
        </p:txBody>
      </p:sp>
      <p:sp>
        <p:nvSpPr>
          <p:cNvPr id="43" name="Text 39"/>
          <p:cNvSpPr/>
          <p:nvPr/>
        </p:nvSpPr>
        <p:spPr>
          <a:xfrm>
            <a:off x="4937760" y="1572768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D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Explainable AI Insights</a:t>
            </a:r>
            <a:endParaRPr lang="en-US" sz="1000" dirty="0"/>
          </a:p>
        </p:txBody>
      </p:sp>
      <p:sp>
        <p:nvSpPr>
          <p:cNvPr id="44" name="Text 40"/>
          <p:cNvSpPr/>
          <p:nvPr/>
        </p:nvSpPr>
        <p:spPr>
          <a:xfrm>
            <a:off x="4937760" y="1865376"/>
            <a:ext cx="19385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 risk scores paired with SHAP factor analysis reveal exactly why each inverter is flagged as high-risk.</a:t>
            </a:r>
            <a:endParaRPr lang="en-US" sz="800" dirty="0"/>
          </a:p>
        </p:txBody>
      </p:sp>
      <p:sp>
        <p:nvSpPr>
          <p:cNvPr id="45" name="Shape 41"/>
          <p:cNvSpPr/>
          <p:nvPr/>
        </p:nvSpPr>
        <p:spPr>
          <a:xfrm>
            <a:off x="7077456" y="877824"/>
            <a:ext cx="2121408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blurRad="127000" dist="38100" dir="8100000" algn="bl" rotWithShape="0">
              <a:srgbClr val="94A3B8">
                <a:alpha val="20000"/>
              </a:srgbClr>
            </a:outerShdw>
          </a:effectLst>
        </p:spPr>
      </p:sp>
      <p:sp>
        <p:nvSpPr>
          <p:cNvPr id="46" name="Shape 42"/>
          <p:cNvSpPr/>
          <p:nvPr/>
        </p:nvSpPr>
        <p:spPr>
          <a:xfrm>
            <a:off x="7077456" y="877824"/>
            <a:ext cx="2121408" cy="457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7" name="Shape 43"/>
          <p:cNvSpPr/>
          <p:nvPr/>
        </p:nvSpPr>
        <p:spPr>
          <a:xfrm>
            <a:off x="7168896" y="969264"/>
            <a:ext cx="347472" cy="274320"/>
          </a:xfrm>
          <a:prstGeom prst="roundRect">
            <a:avLst>
              <a:gd name="adj" fmla="val 20000"/>
            </a:avLst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8" name="Text 44"/>
          <p:cNvSpPr/>
          <p:nvPr/>
        </p:nvSpPr>
        <p:spPr>
          <a:xfrm>
            <a:off x="7168896" y="969264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596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000" dirty="0"/>
          </a:p>
        </p:txBody>
      </p:sp>
      <p:pic>
        <p:nvPicPr>
          <p:cNvPr id="4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68512" y="969264"/>
            <a:ext cx="292608" cy="292608"/>
          </a:xfrm>
          <a:prstGeom prst="rect">
            <a:avLst/>
          </a:prstGeom>
        </p:spPr>
      </p:pic>
      <p:sp>
        <p:nvSpPr>
          <p:cNvPr id="50" name="Shape 45"/>
          <p:cNvSpPr/>
          <p:nvPr/>
        </p:nvSpPr>
        <p:spPr>
          <a:xfrm>
            <a:off x="7168896" y="1298448"/>
            <a:ext cx="1938528" cy="219456"/>
          </a:xfrm>
          <a:prstGeom prst="roundRect">
            <a:avLst>
              <a:gd name="adj" fmla="val 29167"/>
            </a:avLst>
          </a:prstGeom>
          <a:solidFill>
            <a:srgbClr val="D1FAE5"/>
          </a:solidFill>
          <a:ln w="9525">
            <a:solidFill>
              <a:srgbClr val="059669"/>
            </a:solidFill>
            <a:prstDash val="solid"/>
          </a:ln>
        </p:spPr>
      </p:sp>
      <p:sp>
        <p:nvSpPr>
          <p:cNvPr id="51" name="Text 46"/>
          <p:cNvSpPr/>
          <p:nvPr/>
        </p:nvSpPr>
        <p:spPr>
          <a:xfrm>
            <a:off x="7168896" y="1298448"/>
            <a:ext cx="19385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596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RAG-powered</a:t>
            </a:r>
            <a:endParaRPr lang="en-US" sz="800" dirty="0"/>
          </a:p>
        </p:txBody>
      </p:sp>
      <p:sp>
        <p:nvSpPr>
          <p:cNvPr id="52" name="Text 47"/>
          <p:cNvSpPr/>
          <p:nvPr/>
        </p:nvSpPr>
        <p:spPr>
          <a:xfrm>
            <a:off x="7168896" y="1572768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D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GenAI Operations Assistant</a:t>
            </a:r>
            <a:endParaRPr lang="en-US" sz="1000" dirty="0"/>
          </a:p>
        </p:txBody>
      </p:sp>
      <p:sp>
        <p:nvSpPr>
          <p:cNvPr id="53" name="Text 48"/>
          <p:cNvSpPr/>
          <p:nvPr/>
        </p:nvSpPr>
        <p:spPr>
          <a:xfrm>
            <a:off x="7168896" y="1865376"/>
            <a:ext cx="19385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RAG-powered chatbot translates technical telemetry into plain-language root causes and maintenance recommendations.</a:t>
            </a:r>
            <a:endParaRPr lang="en-US" sz="800" dirty="0"/>
          </a:p>
        </p:txBody>
      </p:sp>
      <p:sp>
        <p:nvSpPr>
          <p:cNvPr id="54" name="Shape 49"/>
          <p:cNvSpPr/>
          <p:nvPr/>
        </p:nvSpPr>
        <p:spPr>
          <a:xfrm>
            <a:off x="2615184" y="2523744"/>
            <a:ext cx="2121408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blurRad="127000" dist="38100" dir="8100000" algn="bl" rotWithShape="0">
              <a:srgbClr val="94A3B8">
                <a:alpha val="20000"/>
              </a:srgbClr>
            </a:outerShdw>
          </a:effectLst>
        </p:spPr>
      </p:sp>
      <p:sp>
        <p:nvSpPr>
          <p:cNvPr id="55" name="Shape 50"/>
          <p:cNvSpPr/>
          <p:nvPr/>
        </p:nvSpPr>
        <p:spPr>
          <a:xfrm>
            <a:off x="2615184" y="2523744"/>
            <a:ext cx="2121408" cy="457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6" name="Shape 51"/>
          <p:cNvSpPr/>
          <p:nvPr/>
        </p:nvSpPr>
        <p:spPr>
          <a:xfrm>
            <a:off x="2706624" y="2615184"/>
            <a:ext cx="347472" cy="274320"/>
          </a:xfrm>
          <a:prstGeom prst="roundRect">
            <a:avLst>
              <a:gd name="adj" fmla="val 2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7" name="Text 52"/>
          <p:cNvSpPr/>
          <p:nvPr/>
        </p:nvSpPr>
        <p:spPr>
          <a:xfrm>
            <a:off x="2706624" y="2615184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9770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000" dirty="0"/>
          </a:p>
        </p:txBody>
      </p:sp>
      <p:pic>
        <p:nvPicPr>
          <p:cNvPr id="5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06240" y="2615184"/>
            <a:ext cx="292608" cy="292608"/>
          </a:xfrm>
          <a:prstGeom prst="rect">
            <a:avLst/>
          </a:prstGeom>
        </p:spPr>
      </p:pic>
      <p:sp>
        <p:nvSpPr>
          <p:cNvPr id="59" name="Shape 53"/>
          <p:cNvSpPr/>
          <p:nvPr/>
        </p:nvSpPr>
        <p:spPr>
          <a:xfrm>
            <a:off x="2706624" y="2944368"/>
            <a:ext cx="1938528" cy="219456"/>
          </a:xfrm>
          <a:prstGeom prst="roundRect">
            <a:avLst>
              <a:gd name="adj" fmla="val 29167"/>
            </a:avLst>
          </a:prstGeom>
          <a:solidFill>
            <a:srgbClr val="FEF3C7"/>
          </a:solidFill>
          <a:ln w="9525">
            <a:solidFill>
              <a:srgbClr val="D97706"/>
            </a:solidFill>
            <a:prstDash val="solid"/>
          </a:ln>
        </p:spPr>
      </p:sp>
      <p:sp>
        <p:nvSpPr>
          <p:cNvPr id="60" name="Text 54"/>
          <p:cNvSpPr/>
          <p:nvPr/>
        </p:nvSpPr>
        <p:spPr>
          <a:xfrm>
            <a:off x="2706624" y="2944368"/>
            <a:ext cx="19385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D9770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REST-ready</a:t>
            </a:r>
            <a:endParaRPr lang="en-US" sz="800" dirty="0"/>
          </a:p>
        </p:txBody>
      </p:sp>
      <p:sp>
        <p:nvSpPr>
          <p:cNvPr id="61" name="Text 55"/>
          <p:cNvSpPr/>
          <p:nvPr/>
        </p:nvSpPr>
        <p:spPr>
          <a:xfrm>
            <a:off x="2706624" y="3218688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D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Scalable Architecture</a:t>
            </a:r>
            <a:endParaRPr lang="en-US" sz="1000" dirty="0"/>
          </a:p>
        </p:txBody>
      </p:sp>
      <p:sp>
        <p:nvSpPr>
          <p:cNvPr id="62" name="Text 56"/>
          <p:cNvSpPr/>
          <p:nvPr/>
        </p:nvSpPr>
        <p:spPr>
          <a:xfrm>
            <a:off x="2706624" y="3511296"/>
            <a:ext cx="19385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backend with Pydantic validation, containerization-ready ML services and clean REST endpoint structure.</a:t>
            </a:r>
            <a:endParaRPr lang="en-US" sz="800" dirty="0"/>
          </a:p>
        </p:txBody>
      </p:sp>
      <p:sp>
        <p:nvSpPr>
          <p:cNvPr id="63" name="Shape 57"/>
          <p:cNvSpPr/>
          <p:nvPr/>
        </p:nvSpPr>
        <p:spPr>
          <a:xfrm>
            <a:off x="4846320" y="2523744"/>
            <a:ext cx="2121408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blurRad="127000" dist="38100" dir="8100000" algn="bl" rotWithShape="0">
              <a:srgbClr val="94A3B8">
                <a:alpha val="20000"/>
              </a:srgbClr>
            </a:outerShdw>
          </a:effectLst>
        </p:spPr>
      </p:sp>
      <p:sp>
        <p:nvSpPr>
          <p:cNvPr id="64" name="Shape 58"/>
          <p:cNvSpPr/>
          <p:nvPr/>
        </p:nvSpPr>
        <p:spPr>
          <a:xfrm>
            <a:off x="4846320" y="2523744"/>
            <a:ext cx="2121408" cy="457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65" name="Shape 59"/>
          <p:cNvSpPr/>
          <p:nvPr/>
        </p:nvSpPr>
        <p:spPr>
          <a:xfrm>
            <a:off x="4937760" y="2615184"/>
            <a:ext cx="347472" cy="274320"/>
          </a:xfrm>
          <a:prstGeom prst="roundRect">
            <a:avLst>
              <a:gd name="adj" fmla="val 20000"/>
            </a:avLst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66" name="Text 60"/>
          <p:cNvSpPr/>
          <p:nvPr/>
        </p:nvSpPr>
        <p:spPr>
          <a:xfrm>
            <a:off x="4937760" y="2615184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596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1000" dirty="0"/>
          </a:p>
        </p:txBody>
      </p:sp>
      <p:pic>
        <p:nvPicPr>
          <p:cNvPr id="6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37376" y="2615184"/>
            <a:ext cx="292608" cy="292608"/>
          </a:xfrm>
          <a:prstGeom prst="rect">
            <a:avLst/>
          </a:prstGeom>
        </p:spPr>
      </p:pic>
      <p:sp>
        <p:nvSpPr>
          <p:cNvPr id="68" name="Shape 61"/>
          <p:cNvSpPr/>
          <p:nvPr/>
        </p:nvSpPr>
        <p:spPr>
          <a:xfrm>
            <a:off x="4937760" y="2944368"/>
            <a:ext cx="1938528" cy="219456"/>
          </a:xfrm>
          <a:prstGeom prst="roundRect">
            <a:avLst>
              <a:gd name="adj" fmla="val 29167"/>
            </a:avLst>
          </a:prstGeom>
          <a:solidFill>
            <a:srgbClr val="D1FAE5"/>
          </a:solidFill>
          <a:ln w="9525">
            <a:solidFill>
              <a:srgbClr val="059669"/>
            </a:solidFill>
            <a:prstDash val="solid"/>
          </a:ln>
        </p:spPr>
      </p:sp>
      <p:sp>
        <p:nvSpPr>
          <p:cNvPr id="69" name="Text 62"/>
          <p:cNvSpPr/>
          <p:nvPr/>
        </p:nvSpPr>
        <p:spPr>
          <a:xfrm>
            <a:off x="4937760" y="2944368"/>
            <a:ext cx="19385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596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 inverter cards</a:t>
            </a:r>
            <a:endParaRPr lang="en-US" sz="800" dirty="0"/>
          </a:p>
        </p:txBody>
      </p:sp>
      <p:sp>
        <p:nvSpPr>
          <p:cNvPr id="70" name="Text 63"/>
          <p:cNvSpPr/>
          <p:nvPr/>
        </p:nvSpPr>
        <p:spPr>
          <a:xfrm>
            <a:off x="4937760" y="3218688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D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Deep Data Intelligence</a:t>
            </a:r>
            <a:endParaRPr lang="en-US" sz="1000" dirty="0"/>
          </a:p>
        </p:txBody>
      </p:sp>
      <p:sp>
        <p:nvSpPr>
          <p:cNvPr id="71" name="Text 64"/>
          <p:cNvSpPr/>
          <p:nvPr/>
        </p:nvSpPr>
        <p:spPr>
          <a:xfrm>
            <a:off x="4937760" y="3511296"/>
            <a:ext cx="19385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Merges telemetry signals, engineered KPIs, and anomaly patterns to surface insights invisible to traditional monitoring.</a:t>
            </a:r>
            <a:endParaRPr lang="en-US" sz="800" dirty="0"/>
          </a:p>
        </p:txBody>
      </p:sp>
      <p:sp>
        <p:nvSpPr>
          <p:cNvPr id="72" name="Shape 65"/>
          <p:cNvSpPr/>
          <p:nvPr/>
        </p:nvSpPr>
        <p:spPr>
          <a:xfrm>
            <a:off x="7077456" y="2523744"/>
            <a:ext cx="2121408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blurRad="127000" dist="38100" dir="8100000" algn="bl" rotWithShape="0">
              <a:srgbClr val="94A3B8">
                <a:alpha val="20000"/>
              </a:srgbClr>
            </a:outerShdw>
          </a:effectLst>
        </p:spPr>
      </p:sp>
      <p:sp>
        <p:nvSpPr>
          <p:cNvPr id="73" name="Shape 66"/>
          <p:cNvSpPr/>
          <p:nvPr/>
        </p:nvSpPr>
        <p:spPr>
          <a:xfrm>
            <a:off x="7077456" y="2523744"/>
            <a:ext cx="2121408" cy="457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4" name="Shape 67"/>
          <p:cNvSpPr/>
          <p:nvPr/>
        </p:nvSpPr>
        <p:spPr>
          <a:xfrm>
            <a:off x="7168896" y="2615184"/>
            <a:ext cx="347472" cy="274320"/>
          </a:xfrm>
          <a:prstGeom prst="roundRect">
            <a:avLst>
              <a:gd name="adj" fmla="val 2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5" name="Text 68"/>
          <p:cNvSpPr/>
          <p:nvPr/>
        </p:nvSpPr>
        <p:spPr>
          <a:xfrm>
            <a:off x="7168896" y="2615184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9770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</a:t>
            </a:r>
            <a:endParaRPr lang="en-US" sz="1000" dirty="0"/>
          </a:p>
        </p:txBody>
      </p:sp>
      <p:pic>
        <p:nvPicPr>
          <p:cNvPr id="7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68512" y="2615184"/>
            <a:ext cx="292608" cy="292608"/>
          </a:xfrm>
          <a:prstGeom prst="rect">
            <a:avLst/>
          </a:prstGeom>
        </p:spPr>
      </p:pic>
      <p:sp>
        <p:nvSpPr>
          <p:cNvPr id="77" name="Shape 69"/>
          <p:cNvSpPr/>
          <p:nvPr/>
        </p:nvSpPr>
        <p:spPr>
          <a:xfrm>
            <a:off x="7168896" y="2944368"/>
            <a:ext cx="1938528" cy="219456"/>
          </a:xfrm>
          <a:prstGeom prst="roundRect">
            <a:avLst>
              <a:gd name="adj" fmla="val 29167"/>
            </a:avLst>
          </a:prstGeom>
          <a:solidFill>
            <a:srgbClr val="FEF3C7"/>
          </a:solidFill>
          <a:ln w="9525">
            <a:solidFill>
              <a:srgbClr val="D97706"/>
            </a:solidFill>
            <a:prstDash val="solid"/>
          </a:ln>
        </p:spPr>
      </p:sp>
      <p:sp>
        <p:nvSpPr>
          <p:cNvPr id="78" name="Text 70"/>
          <p:cNvSpPr/>
          <p:nvPr/>
        </p:nvSpPr>
        <p:spPr>
          <a:xfrm>
            <a:off x="7168896" y="2944368"/>
            <a:ext cx="19385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D9770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↑ Energy yield</a:t>
            </a:r>
            <a:endParaRPr lang="en-US" sz="800" dirty="0"/>
          </a:p>
        </p:txBody>
      </p:sp>
      <p:sp>
        <p:nvSpPr>
          <p:cNvPr id="79" name="Text 71"/>
          <p:cNvSpPr/>
          <p:nvPr/>
        </p:nvSpPr>
        <p:spPr>
          <a:xfrm>
            <a:off x="7168896" y="3218688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D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Reduced Downtime &amp; Higher Yield</a:t>
            </a:r>
            <a:endParaRPr lang="en-US" sz="1000" dirty="0"/>
          </a:p>
        </p:txBody>
      </p:sp>
      <p:sp>
        <p:nvSpPr>
          <p:cNvPr id="80" name="Text 72"/>
          <p:cNvSpPr/>
          <p:nvPr/>
        </p:nvSpPr>
        <p:spPr>
          <a:xfrm>
            <a:off x="7168896" y="3511296"/>
            <a:ext cx="19385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failure detection boosts plant uptime and performance ratio — turning operational intelligence into revenue.</a:t>
            </a:r>
            <a:endParaRPr lang="en-US" sz="800" dirty="0"/>
          </a:p>
        </p:txBody>
      </p:sp>
      <p:sp>
        <p:nvSpPr>
          <p:cNvPr id="81" name="Shape 73"/>
          <p:cNvSpPr/>
          <p:nvPr/>
        </p:nvSpPr>
        <p:spPr>
          <a:xfrm>
            <a:off x="0" y="4334256"/>
            <a:ext cx="9144000" cy="809244"/>
          </a:xfrm>
          <a:prstGeom prst="rect">
            <a:avLst/>
          </a:prstGeom>
          <a:solidFill>
            <a:srgbClr val="0F1923"/>
          </a:solidFill>
          <a:ln w="12700">
            <a:solidFill>
              <a:srgbClr val="0F1923"/>
            </a:solidFill>
            <a:prstDash val="solid"/>
          </a:ln>
        </p:spPr>
      </p:sp>
      <p:sp>
        <p:nvSpPr>
          <p:cNvPr id="82" name="Shape 74"/>
          <p:cNvSpPr/>
          <p:nvPr/>
        </p:nvSpPr>
        <p:spPr>
          <a:xfrm>
            <a:off x="256032" y="4389120"/>
            <a:ext cx="36576" cy="6583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83" name="Text 75"/>
          <p:cNvSpPr/>
          <p:nvPr/>
        </p:nvSpPr>
        <p:spPr>
          <a:xfrm>
            <a:off x="402336" y="4361688"/>
            <a:ext cx="8595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 transforms solar plant monitoring from reactive troubleshooting to proactive, AI-driven operational intelligence.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923"/>
          </a:solidFill>
          <a:ln w="12700">
            <a:solidFill>
              <a:srgbClr val="0F192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56032" y="201168"/>
            <a:ext cx="420624" cy="420624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2011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04672" y="9144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Limitations of Our Solution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406640" y="201168"/>
            <a:ext cx="1554480" cy="347472"/>
          </a:xfrm>
          <a:prstGeom prst="roundRect">
            <a:avLst>
              <a:gd name="adj" fmla="val 31579"/>
            </a:avLst>
          </a:prstGeom>
          <a:solidFill>
            <a:srgbClr val="7C2D1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06640" y="201168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00" dirty="0">
                <a:solidFill>
                  <a:srgbClr val="FCA5A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KNOWN CONSTRAINTS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256032" y="859536"/>
            <a:ext cx="8631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where the system has boundaries helps set the right expectations for deployment and use.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64592" y="1170432"/>
            <a:ext cx="274320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blurRad="127000" dist="38100" dir="8100000" algn="bl" rotWithShape="0">
              <a:srgbClr val="94A3B8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64592" y="1170432"/>
            <a:ext cx="2743200" cy="5029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1280160"/>
            <a:ext cx="402336" cy="402336"/>
          </a:xfrm>
          <a:prstGeom prst="ellipse">
            <a:avLst/>
          </a:prstGeom>
          <a:solidFill>
            <a:srgbClr val="FEE2E2"/>
          </a:solidFill>
          <a:ln w="15240">
            <a:solidFill>
              <a:srgbClr val="DC2626"/>
            </a:solidFill>
            <a:prstDash val="solid"/>
          </a:ln>
        </p:spPr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328" y="1344168"/>
            <a:ext cx="274320" cy="274320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2468880" y="1280160"/>
            <a:ext cx="292608" cy="219456"/>
          </a:xfrm>
          <a:prstGeom prst="roundRect">
            <a:avLst>
              <a:gd name="adj" fmla="val 2083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468880" y="1280160"/>
            <a:ext cx="292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749808" y="1261872"/>
            <a:ext cx="1664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D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Quality Dependency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274320" y="1719072"/>
            <a:ext cx="25420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2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Noisy, incomplete, or inconsistent telemetry directly reduces prediction reliability and risk estimation accuracy.</a:t>
            </a:r>
            <a:endParaRPr lang="en-US" sz="820" dirty="0"/>
          </a:p>
        </p:txBody>
      </p:sp>
      <p:sp>
        <p:nvSpPr>
          <p:cNvPr id="17" name="Shape 14"/>
          <p:cNvSpPr/>
          <p:nvPr/>
        </p:nvSpPr>
        <p:spPr>
          <a:xfrm>
            <a:off x="164592" y="2414016"/>
            <a:ext cx="2743200" cy="310896"/>
          </a:xfrm>
          <a:prstGeom prst="rect">
            <a:avLst/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74320" y="24231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i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Poor-quality input weakens risk estimation.</a:t>
            </a:r>
            <a:endParaRPr lang="en-US" sz="780" dirty="0"/>
          </a:p>
        </p:txBody>
      </p:sp>
      <p:sp>
        <p:nvSpPr>
          <p:cNvPr id="19" name="Shape 16"/>
          <p:cNvSpPr/>
          <p:nvPr/>
        </p:nvSpPr>
        <p:spPr>
          <a:xfrm>
            <a:off x="3118104" y="1170432"/>
            <a:ext cx="274320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blurRad="127000" dist="38100" dir="8100000" algn="bl" rotWithShape="0">
              <a:srgbClr val="94A3B8">
                <a:alpha val="18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3118104" y="1170432"/>
            <a:ext cx="2743200" cy="5029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3227832" y="1280160"/>
            <a:ext cx="402336" cy="402336"/>
          </a:xfrm>
          <a:prstGeom prst="ellipse">
            <a:avLst/>
          </a:prstGeom>
          <a:solidFill>
            <a:srgbClr val="FEF3C7"/>
          </a:solidFill>
          <a:ln w="15240">
            <a:solidFill>
              <a:srgbClr val="D97706"/>
            </a:solidFill>
            <a:prstDash val="solid"/>
          </a:ln>
        </p:spPr>
      </p:sp>
      <p:pic>
        <p:nvPicPr>
          <p:cNvPr id="2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1840" y="1344168"/>
            <a:ext cx="274320" cy="274320"/>
          </a:xfrm>
          <a:prstGeom prst="rect">
            <a:avLst/>
          </a:prstGeom>
        </p:spPr>
      </p:pic>
      <p:sp>
        <p:nvSpPr>
          <p:cNvPr id="23" name="Shape 19"/>
          <p:cNvSpPr/>
          <p:nvPr/>
        </p:nvSpPr>
        <p:spPr>
          <a:xfrm>
            <a:off x="5422392" y="1280160"/>
            <a:ext cx="292608" cy="219456"/>
          </a:xfrm>
          <a:prstGeom prst="roundRect">
            <a:avLst>
              <a:gd name="adj" fmla="val 2083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5422392" y="1280160"/>
            <a:ext cx="292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D9770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850" dirty="0"/>
          </a:p>
        </p:txBody>
      </p:sp>
      <p:sp>
        <p:nvSpPr>
          <p:cNvPr id="25" name="Text 21"/>
          <p:cNvSpPr/>
          <p:nvPr/>
        </p:nvSpPr>
        <p:spPr>
          <a:xfrm>
            <a:off x="3703320" y="1261872"/>
            <a:ext cx="1664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D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Generalization Has Limits</a:t>
            </a:r>
            <a:endParaRPr lang="en-US" sz="1000" dirty="0"/>
          </a:p>
        </p:txBody>
      </p:sp>
      <p:sp>
        <p:nvSpPr>
          <p:cNvPr id="26" name="Text 22"/>
          <p:cNvSpPr/>
          <p:nvPr/>
        </p:nvSpPr>
        <p:spPr>
          <a:xfrm>
            <a:off x="3227832" y="1719072"/>
            <a:ext cx="25420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2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on available inverter behavior. Different plant configurations or climates may require retraining or recalibration.</a:t>
            </a:r>
            <a:endParaRPr lang="en-US" sz="820" dirty="0"/>
          </a:p>
        </p:txBody>
      </p:sp>
      <p:sp>
        <p:nvSpPr>
          <p:cNvPr id="27" name="Shape 23"/>
          <p:cNvSpPr/>
          <p:nvPr/>
        </p:nvSpPr>
        <p:spPr>
          <a:xfrm>
            <a:off x="3118104" y="2414016"/>
            <a:ext cx="2743200" cy="310896"/>
          </a:xfrm>
          <a:prstGeom prst="rect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3227832" y="24231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May underperform on unseen plant conditions without adaptation.</a:t>
            </a:r>
            <a:endParaRPr lang="en-US" sz="780" dirty="0"/>
          </a:p>
        </p:txBody>
      </p:sp>
      <p:sp>
        <p:nvSpPr>
          <p:cNvPr id="29" name="Shape 25"/>
          <p:cNvSpPr/>
          <p:nvPr/>
        </p:nvSpPr>
        <p:spPr>
          <a:xfrm>
            <a:off x="6071616" y="1170432"/>
            <a:ext cx="274320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blurRad="127000" dist="38100" dir="8100000" algn="bl" rotWithShape="0">
              <a:srgbClr val="94A3B8">
                <a:alpha val="18000"/>
              </a:srgbClr>
            </a:outerShdw>
          </a:effectLst>
        </p:spPr>
      </p:sp>
      <p:sp>
        <p:nvSpPr>
          <p:cNvPr id="30" name="Shape 26"/>
          <p:cNvSpPr/>
          <p:nvPr/>
        </p:nvSpPr>
        <p:spPr>
          <a:xfrm>
            <a:off x="6071616" y="1170432"/>
            <a:ext cx="2743200" cy="5029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6181344" y="1280160"/>
            <a:ext cx="402336" cy="402336"/>
          </a:xfrm>
          <a:prstGeom prst="ellipse">
            <a:avLst/>
          </a:prstGeom>
          <a:solidFill>
            <a:srgbClr val="FEF3C7"/>
          </a:solidFill>
          <a:ln w="15240">
            <a:solidFill>
              <a:srgbClr val="D97706"/>
            </a:solidFill>
            <a:prstDash val="solid"/>
          </a:ln>
        </p:spPr>
      </p:sp>
      <p:pic>
        <p:nvPicPr>
          <p:cNvPr id="3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5352" y="1344168"/>
            <a:ext cx="274320" cy="274320"/>
          </a:xfrm>
          <a:prstGeom prst="rect">
            <a:avLst/>
          </a:prstGeom>
        </p:spPr>
      </p:pic>
      <p:sp>
        <p:nvSpPr>
          <p:cNvPr id="33" name="Shape 28"/>
          <p:cNvSpPr/>
          <p:nvPr/>
        </p:nvSpPr>
        <p:spPr>
          <a:xfrm>
            <a:off x="8375904" y="1280160"/>
            <a:ext cx="292608" cy="219456"/>
          </a:xfrm>
          <a:prstGeom prst="roundRect">
            <a:avLst>
              <a:gd name="adj" fmla="val 2083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4" name="Text 29"/>
          <p:cNvSpPr/>
          <p:nvPr/>
        </p:nvSpPr>
        <p:spPr>
          <a:xfrm>
            <a:off x="8375904" y="1280160"/>
            <a:ext cx="292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D9770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850" dirty="0"/>
          </a:p>
        </p:txBody>
      </p:sp>
      <p:sp>
        <p:nvSpPr>
          <p:cNvPr id="35" name="Text 30"/>
          <p:cNvSpPr/>
          <p:nvPr/>
        </p:nvSpPr>
        <p:spPr>
          <a:xfrm>
            <a:off x="6656832" y="1261872"/>
            <a:ext cx="1664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D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Risk Indication, Not Fault Confirmation</a:t>
            </a:r>
            <a:endParaRPr lang="en-US" sz="1000" dirty="0"/>
          </a:p>
        </p:txBody>
      </p:sp>
      <p:sp>
        <p:nvSpPr>
          <p:cNvPr id="36" name="Text 31"/>
          <p:cNvSpPr/>
          <p:nvPr/>
        </p:nvSpPr>
        <p:spPr>
          <a:xfrm>
            <a:off x="6181344" y="1719072"/>
            <a:ext cx="25420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2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High-risk output signals early warning behavior — it does not guarantee an immediate confirmed physical failure.</a:t>
            </a:r>
            <a:endParaRPr lang="en-US" sz="820" dirty="0"/>
          </a:p>
        </p:txBody>
      </p:sp>
      <p:sp>
        <p:nvSpPr>
          <p:cNvPr id="37" name="Shape 32"/>
          <p:cNvSpPr/>
          <p:nvPr/>
        </p:nvSpPr>
        <p:spPr>
          <a:xfrm>
            <a:off x="6071616" y="2414016"/>
            <a:ext cx="2743200" cy="310896"/>
          </a:xfrm>
          <a:prstGeom prst="rect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38" name="Text 33"/>
          <p:cNvSpPr/>
          <p:nvPr/>
        </p:nvSpPr>
        <p:spPr>
          <a:xfrm>
            <a:off x="6181344" y="24231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Use as decision-support, not a replacement for inspection.</a:t>
            </a:r>
            <a:endParaRPr lang="en-US" sz="780" dirty="0"/>
          </a:p>
        </p:txBody>
      </p:sp>
      <p:sp>
        <p:nvSpPr>
          <p:cNvPr id="39" name="Shape 34"/>
          <p:cNvSpPr/>
          <p:nvPr/>
        </p:nvSpPr>
        <p:spPr>
          <a:xfrm>
            <a:off x="164592" y="2798064"/>
            <a:ext cx="274320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blurRad="127000" dist="38100" dir="8100000" algn="bl" rotWithShape="0">
              <a:srgbClr val="94A3B8">
                <a:alpha val="18000"/>
              </a:srgbClr>
            </a:outerShdw>
          </a:effectLst>
        </p:spPr>
      </p:sp>
      <p:sp>
        <p:nvSpPr>
          <p:cNvPr id="40" name="Shape 35"/>
          <p:cNvSpPr/>
          <p:nvPr/>
        </p:nvSpPr>
        <p:spPr>
          <a:xfrm>
            <a:off x="164592" y="2798064"/>
            <a:ext cx="2743200" cy="5029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1" name="Shape 36"/>
          <p:cNvSpPr/>
          <p:nvPr/>
        </p:nvSpPr>
        <p:spPr>
          <a:xfrm>
            <a:off x="274320" y="2907792"/>
            <a:ext cx="402336" cy="402336"/>
          </a:xfrm>
          <a:prstGeom prst="ellipse">
            <a:avLst/>
          </a:prstGeom>
          <a:solidFill>
            <a:srgbClr val="FEE2E2"/>
          </a:solidFill>
          <a:ln w="15240">
            <a:solidFill>
              <a:srgbClr val="DC2626"/>
            </a:solidFill>
            <a:prstDash val="solid"/>
          </a:ln>
        </p:spPr>
      </p:sp>
      <p:pic>
        <p:nvPicPr>
          <p:cNvPr id="4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8328" y="2971800"/>
            <a:ext cx="274320" cy="274320"/>
          </a:xfrm>
          <a:prstGeom prst="rect">
            <a:avLst/>
          </a:prstGeom>
        </p:spPr>
      </p:pic>
      <p:sp>
        <p:nvSpPr>
          <p:cNvPr id="43" name="Shape 37"/>
          <p:cNvSpPr/>
          <p:nvPr/>
        </p:nvSpPr>
        <p:spPr>
          <a:xfrm>
            <a:off x="2468880" y="2907792"/>
            <a:ext cx="292608" cy="219456"/>
          </a:xfrm>
          <a:prstGeom prst="roundRect">
            <a:avLst>
              <a:gd name="adj" fmla="val 2083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4" name="Text 38"/>
          <p:cNvSpPr/>
          <p:nvPr/>
        </p:nvSpPr>
        <p:spPr>
          <a:xfrm>
            <a:off x="2468880" y="2907792"/>
            <a:ext cx="292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850" dirty="0"/>
          </a:p>
        </p:txBody>
      </p:sp>
      <p:sp>
        <p:nvSpPr>
          <p:cNvPr id="45" name="Text 39"/>
          <p:cNvSpPr/>
          <p:nvPr/>
        </p:nvSpPr>
        <p:spPr>
          <a:xfrm>
            <a:off x="749808" y="2889504"/>
            <a:ext cx="1664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D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Explainability Bounded by Features</a:t>
            </a:r>
            <a:endParaRPr lang="en-US" sz="1000" dirty="0"/>
          </a:p>
        </p:txBody>
      </p:sp>
      <p:sp>
        <p:nvSpPr>
          <p:cNvPr id="46" name="Text 40"/>
          <p:cNvSpPr/>
          <p:nvPr/>
        </p:nvSpPr>
        <p:spPr>
          <a:xfrm>
            <a:off x="274320" y="3346704"/>
            <a:ext cx="25420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2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Predictions are explained using engineered features. Variables absent from telemetry cannot be reflected in explanations.</a:t>
            </a:r>
            <a:endParaRPr lang="en-US" sz="820" dirty="0"/>
          </a:p>
        </p:txBody>
      </p:sp>
      <p:sp>
        <p:nvSpPr>
          <p:cNvPr id="47" name="Shape 41"/>
          <p:cNvSpPr/>
          <p:nvPr/>
        </p:nvSpPr>
        <p:spPr>
          <a:xfrm>
            <a:off x="164592" y="4041648"/>
            <a:ext cx="2743200" cy="310896"/>
          </a:xfrm>
          <a:prstGeom prst="rect">
            <a:avLst/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48" name="Text 42"/>
          <p:cNvSpPr/>
          <p:nvPr/>
        </p:nvSpPr>
        <p:spPr>
          <a:xfrm>
            <a:off x="274320" y="405079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i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The model explains only what it has learned from available data.</a:t>
            </a:r>
            <a:endParaRPr lang="en-US" sz="780" dirty="0"/>
          </a:p>
        </p:txBody>
      </p:sp>
      <p:sp>
        <p:nvSpPr>
          <p:cNvPr id="49" name="Shape 43"/>
          <p:cNvSpPr/>
          <p:nvPr/>
        </p:nvSpPr>
        <p:spPr>
          <a:xfrm>
            <a:off x="3118104" y="2798064"/>
            <a:ext cx="274320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blurRad="127000" dist="38100" dir="8100000" algn="bl" rotWithShape="0">
              <a:srgbClr val="94A3B8">
                <a:alpha val="18000"/>
              </a:srgbClr>
            </a:outerShdw>
          </a:effectLst>
        </p:spPr>
      </p:sp>
      <p:sp>
        <p:nvSpPr>
          <p:cNvPr id="50" name="Shape 44"/>
          <p:cNvSpPr/>
          <p:nvPr/>
        </p:nvSpPr>
        <p:spPr>
          <a:xfrm>
            <a:off x="3118104" y="2798064"/>
            <a:ext cx="2743200" cy="5029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1" name="Shape 45"/>
          <p:cNvSpPr/>
          <p:nvPr/>
        </p:nvSpPr>
        <p:spPr>
          <a:xfrm>
            <a:off x="3227832" y="2907792"/>
            <a:ext cx="402336" cy="402336"/>
          </a:xfrm>
          <a:prstGeom prst="ellipse">
            <a:avLst/>
          </a:prstGeom>
          <a:solidFill>
            <a:srgbClr val="FEE2E2"/>
          </a:solidFill>
          <a:ln w="15240">
            <a:solidFill>
              <a:srgbClr val="DC2626"/>
            </a:solidFill>
            <a:prstDash val="solid"/>
          </a:ln>
        </p:spPr>
      </p:sp>
      <p:pic>
        <p:nvPicPr>
          <p:cNvPr id="5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91840" y="2971800"/>
            <a:ext cx="274320" cy="274320"/>
          </a:xfrm>
          <a:prstGeom prst="rect">
            <a:avLst/>
          </a:prstGeom>
        </p:spPr>
      </p:pic>
      <p:sp>
        <p:nvSpPr>
          <p:cNvPr id="53" name="Shape 46"/>
          <p:cNvSpPr/>
          <p:nvPr/>
        </p:nvSpPr>
        <p:spPr>
          <a:xfrm>
            <a:off x="5422392" y="2907792"/>
            <a:ext cx="292608" cy="219456"/>
          </a:xfrm>
          <a:prstGeom prst="roundRect">
            <a:avLst>
              <a:gd name="adj" fmla="val 2083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4" name="Text 47"/>
          <p:cNvSpPr/>
          <p:nvPr/>
        </p:nvSpPr>
        <p:spPr>
          <a:xfrm>
            <a:off x="5422392" y="2907792"/>
            <a:ext cx="292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850" dirty="0"/>
          </a:p>
        </p:txBody>
      </p:sp>
      <p:sp>
        <p:nvSpPr>
          <p:cNvPr id="55" name="Text 48"/>
          <p:cNvSpPr/>
          <p:nvPr/>
        </p:nvSpPr>
        <p:spPr>
          <a:xfrm>
            <a:off x="3703320" y="2889504"/>
            <a:ext cx="1664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D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Prototype-Oriented Build</a:t>
            </a:r>
            <a:endParaRPr lang="en-US" sz="1000" dirty="0"/>
          </a:p>
        </p:txBody>
      </p:sp>
      <p:sp>
        <p:nvSpPr>
          <p:cNvPr id="56" name="Text 49"/>
          <p:cNvSpPr/>
          <p:nvPr/>
        </p:nvSpPr>
        <p:spPr>
          <a:xfrm>
            <a:off x="3227832" y="3346704"/>
            <a:ext cx="25420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2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deployment still requires large-scale testing, live pipelines, security hardening, and continuous retraining.</a:t>
            </a:r>
            <a:endParaRPr lang="en-US" sz="820" dirty="0"/>
          </a:p>
        </p:txBody>
      </p:sp>
      <p:sp>
        <p:nvSpPr>
          <p:cNvPr id="57" name="Shape 50"/>
          <p:cNvSpPr/>
          <p:nvPr/>
        </p:nvSpPr>
        <p:spPr>
          <a:xfrm>
            <a:off x="3118104" y="4041648"/>
            <a:ext cx="2743200" cy="310896"/>
          </a:xfrm>
          <a:prstGeom prst="rect">
            <a:avLst/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58" name="Text 51"/>
          <p:cNvSpPr/>
          <p:nvPr/>
        </p:nvSpPr>
        <p:spPr>
          <a:xfrm>
            <a:off x="3227832" y="405079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i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Demonstrates feasibility — not yet full industrial deployment readiness.</a:t>
            </a:r>
            <a:endParaRPr lang="en-US" sz="780" dirty="0"/>
          </a:p>
        </p:txBody>
      </p:sp>
      <p:sp>
        <p:nvSpPr>
          <p:cNvPr id="59" name="Shape 52"/>
          <p:cNvSpPr/>
          <p:nvPr/>
        </p:nvSpPr>
        <p:spPr>
          <a:xfrm>
            <a:off x="6071616" y="2798064"/>
            <a:ext cx="274320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blurRad="127000" dist="38100" dir="8100000" algn="bl" rotWithShape="0">
              <a:srgbClr val="94A3B8">
                <a:alpha val="18000"/>
              </a:srgbClr>
            </a:outerShdw>
          </a:effectLst>
        </p:spPr>
      </p:sp>
      <p:sp>
        <p:nvSpPr>
          <p:cNvPr id="60" name="Shape 53"/>
          <p:cNvSpPr/>
          <p:nvPr/>
        </p:nvSpPr>
        <p:spPr>
          <a:xfrm>
            <a:off x="6071616" y="2798064"/>
            <a:ext cx="2743200" cy="5029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1" name="Shape 54"/>
          <p:cNvSpPr/>
          <p:nvPr/>
        </p:nvSpPr>
        <p:spPr>
          <a:xfrm>
            <a:off x="6181344" y="2907792"/>
            <a:ext cx="402336" cy="402336"/>
          </a:xfrm>
          <a:prstGeom prst="ellipse">
            <a:avLst/>
          </a:prstGeom>
          <a:solidFill>
            <a:srgbClr val="FEF3C7"/>
          </a:solidFill>
          <a:ln w="15240">
            <a:solidFill>
              <a:srgbClr val="D97706"/>
            </a:solidFill>
            <a:prstDash val="solid"/>
          </a:ln>
        </p:spPr>
      </p:sp>
      <p:pic>
        <p:nvPicPr>
          <p:cNvPr id="6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45352" y="2971800"/>
            <a:ext cx="274320" cy="274320"/>
          </a:xfrm>
          <a:prstGeom prst="rect">
            <a:avLst/>
          </a:prstGeom>
        </p:spPr>
      </p:pic>
      <p:sp>
        <p:nvSpPr>
          <p:cNvPr id="63" name="Shape 55"/>
          <p:cNvSpPr/>
          <p:nvPr/>
        </p:nvSpPr>
        <p:spPr>
          <a:xfrm>
            <a:off x="8375904" y="2907792"/>
            <a:ext cx="292608" cy="219456"/>
          </a:xfrm>
          <a:prstGeom prst="roundRect">
            <a:avLst>
              <a:gd name="adj" fmla="val 2083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4" name="Text 56"/>
          <p:cNvSpPr/>
          <p:nvPr/>
        </p:nvSpPr>
        <p:spPr>
          <a:xfrm>
            <a:off x="8375904" y="2907792"/>
            <a:ext cx="292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D9770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</a:t>
            </a:r>
            <a:endParaRPr lang="en-US" sz="850" dirty="0"/>
          </a:p>
        </p:txBody>
      </p:sp>
      <p:sp>
        <p:nvSpPr>
          <p:cNvPr id="65" name="Text 57"/>
          <p:cNvSpPr/>
          <p:nvPr/>
        </p:nvSpPr>
        <p:spPr>
          <a:xfrm>
            <a:off x="6656832" y="2889504"/>
            <a:ext cx="1664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D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Chatbot Context Dependency</a:t>
            </a:r>
            <a:endParaRPr lang="en-US" sz="1000" dirty="0"/>
          </a:p>
        </p:txBody>
      </p:sp>
      <p:sp>
        <p:nvSpPr>
          <p:cNvPr id="66" name="Text 58"/>
          <p:cNvSpPr/>
          <p:nvPr/>
        </p:nvSpPr>
        <p:spPr>
          <a:xfrm>
            <a:off x="6181344" y="3346704"/>
            <a:ext cx="25420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2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Assistance quality depends on backend responses and retrieved context accuracy. Not suitable as a sole decision source.</a:t>
            </a:r>
            <a:endParaRPr lang="en-US" sz="820" dirty="0"/>
          </a:p>
        </p:txBody>
      </p:sp>
      <p:sp>
        <p:nvSpPr>
          <p:cNvPr id="67" name="Shape 59"/>
          <p:cNvSpPr/>
          <p:nvPr/>
        </p:nvSpPr>
        <p:spPr>
          <a:xfrm>
            <a:off x="6071616" y="4041648"/>
            <a:ext cx="2743200" cy="310896"/>
          </a:xfrm>
          <a:prstGeom prst="rect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68" name="Text 60"/>
          <p:cNvSpPr/>
          <p:nvPr/>
        </p:nvSpPr>
        <p:spPr>
          <a:xfrm>
            <a:off x="6181344" y="405079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Supports interpretation — not a primary source for critical decisions.</a:t>
            </a:r>
            <a:endParaRPr lang="en-US" sz="780" dirty="0"/>
          </a:p>
        </p:txBody>
      </p:sp>
      <p:sp>
        <p:nvSpPr>
          <p:cNvPr id="69" name="Shape 61"/>
          <p:cNvSpPr/>
          <p:nvPr/>
        </p:nvSpPr>
        <p:spPr>
          <a:xfrm>
            <a:off x="0" y="4334256"/>
            <a:ext cx="9144000" cy="809244"/>
          </a:xfrm>
          <a:prstGeom prst="rect">
            <a:avLst/>
          </a:prstGeom>
          <a:solidFill>
            <a:srgbClr val="0F1923"/>
          </a:solidFill>
          <a:ln w="12700">
            <a:solidFill>
              <a:srgbClr val="0F1923"/>
            </a:solidFill>
            <a:prstDash val="solid"/>
          </a:ln>
        </p:spPr>
      </p:sp>
      <p:sp>
        <p:nvSpPr>
          <p:cNvPr id="70" name="Shape 62"/>
          <p:cNvSpPr/>
          <p:nvPr/>
        </p:nvSpPr>
        <p:spPr>
          <a:xfrm>
            <a:off x="256032" y="4389120"/>
            <a:ext cx="36576" cy="6583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1" name="Text 63"/>
          <p:cNvSpPr/>
          <p:nvPr/>
        </p:nvSpPr>
        <p:spPr>
          <a:xfrm>
            <a:off x="402336" y="4361688"/>
            <a:ext cx="8595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 is powerful as an early risk intelligence system, but its effectiveness depends on reliable data, plant-specific adaptation, and real-world deployment refinement.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817</Words>
  <Application>Microsoft Macintosh PowerPoint</Application>
  <PresentationFormat>On-screen Show (16:9)</PresentationFormat>
  <Paragraphs>147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shubham shah</cp:lastModifiedBy>
  <cp:revision>2</cp:revision>
  <dcterms:created xsi:type="dcterms:W3CDTF">2026-03-07T04:07:13Z</dcterms:created>
  <dcterms:modified xsi:type="dcterms:W3CDTF">2026-03-07T04:37:51Z</dcterms:modified>
</cp:coreProperties>
</file>